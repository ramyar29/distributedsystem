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notesMasterIdLst>
    <p:notesMasterId r:id="rId30"/>
  </p:notesMasterIdLst>
  <p:sldIdLst>
    <p:sldId id="334" r:id="rId2"/>
    <p:sldId id="33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87" r:id="rId15"/>
    <p:sldId id="311" r:id="rId16"/>
    <p:sldId id="312" r:id="rId17"/>
    <p:sldId id="313" r:id="rId18"/>
    <p:sldId id="314" r:id="rId19"/>
    <p:sldId id="315" r:id="rId20"/>
    <p:sldId id="291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3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5F7A6-5AAF-BB47-9D4D-D37436FE5FC9}" v="79" dt="2023-09-21T18:39:30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/>
    <p:restoredTop sz="94762"/>
  </p:normalViewPr>
  <p:slideViewPr>
    <p:cSldViewPr>
      <p:cViewPr varScale="1">
        <p:scale>
          <a:sx n="117" d="100"/>
          <a:sy n="117" d="100"/>
        </p:scale>
        <p:origin x="17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ndeen, Kevin" userId="f41f08b3-201c-4bb1-b063-613ae9b71acc" providerId="ADAL" clId="{D63C8B30-9693-0A40-BC91-BD267992FB44}"/>
    <pc:docChg chg="modSld">
      <pc:chgData name="Lundeen, Kevin" userId="f41f08b3-201c-4bb1-b063-613ae9b71acc" providerId="ADAL" clId="{D63C8B30-9693-0A40-BC91-BD267992FB44}" dt="2020-09-05T15:11:38.820" v="15" actId="20577"/>
      <pc:docMkLst>
        <pc:docMk/>
      </pc:docMkLst>
      <pc:sldChg chg="modSp mod">
        <pc:chgData name="Lundeen, Kevin" userId="f41f08b3-201c-4bb1-b063-613ae9b71acc" providerId="ADAL" clId="{D63C8B30-9693-0A40-BC91-BD267992FB44}" dt="2020-09-05T15:11:38.820" v="15" actId="20577"/>
        <pc:sldMkLst>
          <pc:docMk/>
          <pc:sldMk cId="3788860214" sldId="316"/>
        </pc:sldMkLst>
        <pc:spChg chg="mod">
          <ac:chgData name="Lundeen, Kevin" userId="f41f08b3-201c-4bb1-b063-613ae9b71acc" providerId="ADAL" clId="{D63C8B30-9693-0A40-BC91-BD267992FB44}" dt="2020-09-05T15:11:38.820" v="15" actId="20577"/>
          <ac:spMkLst>
            <pc:docMk/>
            <pc:sldMk cId="3788860214" sldId="316"/>
            <ac:spMk id="3" creationId="{00000000-0000-0000-0000-000000000000}"/>
          </ac:spMkLst>
        </pc:spChg>
      </pc:sldChg>
      <pc:sldChg chg="modSp mod">
        <pc:chgData name="Lundeen, Kevin" userId="f41f08b3-201c-4bb1-b063-613ae9b71acc" providerId="ADAL" clId="{D63C8B30-9693-0A40-BC91-BD267992FB44}" dt="2020-09-05T15:09:26.478" v="13" actId="20577"/>
        <pc:sldMkLst>
          <pc:docMk/>
          <pc:sldMk cId="269456005" sldId="334"/>
        </pc:sldMkLst>
        <pc:spChg chg="mod">
          <ac:chgData name="Lundeen, Kevin" userId="f41f08b3-201c-4bb1-b063-613ae9b71acc" providerId="ADAL" clId="{D63C8B30-9693-0A40-BC91-BD267992FB44}" dt="2020-09-05T15:09:26.478" v="13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1DF63DC4-416F-D94A-93F3-EC6BB2898B0F}"/>
    <pc:docChg chg="modSld">
      <pc:chgData name="Lundeen, Kevin" userId="f41f08b3-201c-4bb1-b063-613ae9b71acc" providerId="ADAL" clId="{1DF63DC4-416F-D94A-93F3-EC6BB2898B0F}" dt="2021-09-21T23:36:03.901" v="5" actId="729"/>
      <pc:docMkLst>
        <pc:docMk/>
      </pc:docMkLst>
      <pc:sldChg chg="mod modShow">
        <pc:chgData name="Lundeen, Kevin" userId="f41f08b3-201c-4bb1-b063-613ae9b71acc" providerId="ADAL" clId="{1DF63DC4-416F-D94A-93F3-EC6BB2898B0F}" dt="2021-09-21T23:36:03.901" v="5" actId="729"/>
        <pc:sldMkLst>
          <pc:docMk/>
          <pc:sldMk cId="1731093" sldId="258"/>
        </pc:sldMkLst>
      </pc:sldChg>
      <pc:sldChg chg="modSp mod modShow">
        <pc:chgData name="Lundeen, Kevin" userId="f41f08b3-201c-4bb1-b063-613ae9b71acc" providerId="ADAL" clId="{1DF63DC4-416F-D94A-93F3-EC6BB2898B0F}" dt="2021-09-21T23:35:10.474" v="3" actId="729"/>
        <pc:sldMkLst>
          <pc:docMk/>
          <pc:sldMk cId="269456005" sldId="334"/>
        </pc:sldMkLst>
        <pc:spChg chg="mod">
          <ac:chgData name="Lundeen, Kevin" userId="f41f08b3-201c-4bb1-b063-613ae9b71acc" providerId="ADAL" clId="{1DF63DC4-416F-D94A-93F3-EC6BB2898B0F}" dt="2021-09-21T23:31:03.694" v="1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0C1BD257-6014-9F49-AFD5-C79FD84D6623}"/>
    <pc:docChg chg="modSld">
      <pc:chgData name="Lundeen, Kevin" userId="f41f08b3-201c-4bb1-b063-613ae9b71acc" providerId="ADAL" clId="{0C1BD257-6014-9F49-AFD5-C79FD84D6623}" dt="2022-09-22T03:13:06.149" v="1" actId="20577"/>
      <pc:docMkLst>
        <pc:docMk/>
      </pc:docMkLst>
      <pc:sldChg chg="modSp mod">
        <pc:chgData name="Lundeen, Kevin" userId="f41f08b3-201c-4bb1-b063-613ae9b71acc" providerId="ADAL" clId="{0C1BD257-6014-9F49-AFD5-C79FD84D6623}" dt="2022-09-22T03:13:06.149" v="1" actId="20577"/>
        <pc:sldMkLst>
          <pc:docMk/>
          <pc:sldMk cId="269456005" sldId="334"/>
        </pc:sldMkLst>
        <pc:spChg chg="mod">
          <ac:chgData name="Lundeen, Kevin" userId="f41f08b3-201c-4bb1-b063-613ae9b71acc" providerId="ADAL" clId="{0C1BD257-6014-9F49-AFD5-C79FD84D6623}" dt="2022-09-22T03:13:06.149" v="1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1B51AC74-51F1-9B49-BAFA-F9021088FCF8}"/>
    <pc:docChg chg="undo custSel modSld">
      <pc:chgData name="Lundeen, Kevin" userId="f41f08b3-201c-4bb1-b063-613ae9b71acc" providerId="ADAL" clId="{1B51AC74-51F1-9B49-BAFA-F9021088FCF8}" dt="2020-09-10T20:17:15.863" v="125" actId="5793"/>
      <pc:docMkLst>
        <pc:docMk/>
      </pc:docMkLst>
      <pc:sldChg chg="modSp">
        <pc:chgData name="Lundeen, Kevin" userId="f41f08b3-201c-4bb1-b063-613ae9b71acc" providerId="ADAL" clId="{1B51AC74-51F1-9B49-BAFA-F9021088FCF8}" dt="2020-09-10T20:02:42.017" v="79" actId="20577"/>
        <pc:sldMkLst>
          <pc:docMk/>
          <pc:sldMk cId="1737339547" sldId="260"/>
        </pc:sldMkLst>
        <pc:spChg chg="mod">
          <ac:chgData name="Lundeen, Kevin" userId="f41f08b3-201c-4bb1-b063-613ae9b71acc" providerId="ADAL" clId="{1B51AC74-51F1-9B49-BAFA-F9021088FCF8}" dt="2020-09-10T20:02:42.017" v="79" actId="20577"/>
          <ac:spMkLst>
            <pc:docMk/>
            <pc:sldMk cId="1737339547" sldId="260"/>
            <ac:spMk id="3" creationId="{00000000-0000-0000-0000-000000000000}"/>
          </ac:spMkLst>
        </pc:spChg>
      </pc:sldChg>
      <pc:sldChg chg="modSp">
        <pc:chgData name="Lundeen, Kevin" userId="f41f08b3-201c-4bb1-b063-613ae9b71acc" providerId="ADAL" clId="{1B51AC74-51F1-9B49-BAFA-F9021088FCF8}" dt="2020-09-10T20:09:24.066" v="100" actId="20577"/>
        <pc:sldMkLst>
          <pc:docMk/>
          <pc:sldMk cId="3707325420" sldId="265"/>
        </pc:sldMkLst>
        <pc:spChg chg="mod">
          <ac:chgData name="Lundeen, Kevin" userId="f41f08b3-201c-4bb1-b063-613ae9b71acc" providerId="ADAL" clId="{1B51AC74-51F1-9B49-BAFA-F9021088FCF8}" dt="2020-09-10T20:09:24.066" v="100" actId="20577"/>
          <ac:spMkLst>
            <pc:docMk/>
            <pc:sldMk cId="3707325420" sldId="265"/>
            <ac:spMk id="3" creationId="{00000000-0000-0000-0000-000000000000}"/>
          </ac:spMkLst>
        </pc:spChg>
      </pc:sldChg>
      <pc:sldChg chg="modSp">
        <pc:chgData name="Lundeen, Kevin" userId="f41f08b3-201c-4bb1-b063-613ae9b71acc" providerId="ADAL" clId="{1B51AC74-51F1-9B49-BAFA-F9021088FCF8}" dt="2020-09-10T20:09:46.143" v="102" actId="20577"/>
        <pc:sldMkLst>
          <pc:docMk/>
          <pc:sldMk cId="98926886" sldId="266"/>
        </pc:sldMkLst>
        <pc:spChg chg="mod">
          <ac:chgData name="Lundeen, Kevin" userId="f41f08b3-201c-4bb1-b063-613ae9b71acc" providerId="ADAL" clId="{1B51AC74-51F1-9B49-BAFA-F9021088FCF8}" dt="2020-09-10T20:09:46.143" v="102" actId="20577"/>
          <ac:spMkLst>
            <pc:docMk/>
            <pc:sldMk cId="98926886" sldId="266"/>
            <ac:spMk id="3" creationId="{00000000-0000-0000-0000-000000000000}"/>
          </ac:spMkLst>
        </pc:spChg>
      </pc:sldChg>
      <pc:sldChg chg="modSp">
        <pc:chgData name="Lundeen, Kevin" userId="f41f08b3-201c-4bb1-b063-613ae9b71acc" providerId="ADAL" clId="{1B51AC74-51F1-9B49-BAFA-F9021088FCF8}" dt="2020-09-10T20:07:29.702" v="81" actId="1076"/>
        <pc:sldMkLst>
          <pc:docMk/>
          <pc:sldMk cId="269456005" sldId="334"/>
        </pc:sldMkLst>
        <pc:spChg chg="mod">
          <ac:chgData name="Lundeen, Kevin" userId="f41f08b3-201c-4bb1-b063-613ae9b71acc" providerId="ADAL" clId="{1B51AC74-51F1-9B49-BAFA-F9021088FCF8}" dt="2020-09-10T20:07:29.702" v="81" actId="1076"/>
          <ac:spMkLst>
            <pc:docMk/>
            <pc:sldMk cId="269456005" sldId="334"/>
            <ac:spMk id="2" creationId="{F1C7814C-87BF-C744-8C79-F2083188C69B}"/>
          </ac:spMkLst>
        </pc:spChg>
      </pc:sldChg>
      <pc:sldChg chg="modSp">
        <pc:chgData name="Lundeen, Kevin" userId="f41f08b3-201c-4bb1-b063-613ae9b71acc" providerId="ADAL" clId="{1B51AC74-51F1-9B49-BAFA-F9021088FCF8}" dt="2020-09-10T20:17:15.863" v="125" actId="5793"/>
        <pc:sldMkLst>
          <pc:docMk/>
          <pc:sldMk cId="2862334159" sldId="336"/>
        </pc:sldMkLst>
        <pc:spChg chg="mod">
          <ac:chgData name="Lundeen, Kevin" userId="f41f08b3-201c-4bb1-b063-613ae9b71acc" providerId="ADAL" clId="{1B51AC74-51F1-9B49-BAFA-F9021088FCF8}" dt="2020-09-10T20:17:15.863" v="125" actId="5793"/>
          <ac:spMkLst>
            <pc:docMk/>
            <pc:sldMk cId="2862334159" sldId="336"/>
            <ac:spMk id="2" creationId="{00000000-0000-0000-0000-000000000000}"/>
          </ac:spMkLst>
        </pc:spChg>
      </pc:sldChg>
    </pc:docChg>
  </pc:docChgLst>
  <pc:docChgLst>
    <pc:chgData name="Kevin Lundeen" userId="f41f08b3-201c-4bb1-b063-613ae9b71acc" providerId="ADAL" clId="{66C5F7A6-5AAF-BB47-9D4D-D37436FE5FC9}"/>
    <pc:docChg chg="modSld">
      <pc:chgData name="Kevin Lundeen" userId="f41f08b3-201c-4bb1-b063-613ae9b71acc" providerId="ADAL" clId="{66C5F7A6-5AAF-BB47-9D4D-D37436FE5FC9}" dt="2023-09-21T18:45:08.164" v="98" actId="20577"/>
      <pc:docMkLst>
        <pc:docMk/>
      </pc:docMkLst>
      <pc:sldChg chg="modSp">
        <pc:chgData name="Kevin Lundeen" userId="f41f08b3-201c-4bb1-b063-613ae9b71acc" providerId="ADAL" clId="{66C5F7A6-5AAF-BB47-9D4D-D37436FE5FC9}" dt="2023-09-21T18:35:23.558" v="32" actId="20577"/>
        <pc:sldMkLst>
          <pc:docMk/>
          <pc:sldMk cId="1737339547" sldId="260"/>
        </pc:sldMkLst>
        <pc:spChg chg="mod">
          <ac:chgData name="Kevin Lundeen" userId="f41f08b3-201c-4bb1-b063-613ae9b71acc" providerId="ADAL" clId="{66C5F7A6-5AAF-BB47-9D4D-D37436FE5FC9}" dt="2023-09-21T18:35:23.558" v="32" actId="20577"/>
          <ac:spMkLst>
            <pc:docMk/>
            <pc:sldMk cId="1737339547" sldId="260"/>
            <ac:spMk id="3" creationId="{00000000-0000-0000-0000-000000000000}"/>
          </ac:spMkLst>
        </pc:spChg>
      </pc:sldChg>
      <pc:sldChg chg="modSp modAnim">
        <pc:chgData name="Kevin Lundeen" userId="f41f08b3-201c-4bb1-b063-613ae9b71acc" providerId="ADAL" clId="{66C5F7A6-5AAF-BB47-9D4D-D37436FE5FC9}" dt="2023-09-21T18:39:30.057" v="81" actId="20577"/>
        <pc:sldMkLst>
          <pc:docMk/>
          <pc:sldMk cId="255244003" sldId="261"/>
        </pc:sldMkLst>
        <pc:spChg chg="mod">
          <ac:chgData name="Kevin Lundeen" userId="f41f08b3-201c-4bb1-b063-613ae9b71acc" providerId="ADAL" clId="{66C5F7A6-5AAF-BB47-9D4D-D37436FE5FC9}" dt="2023-09-21T18:39:30.057" v="81" actId="20577"/>
          <ac:spMkLst>
            <pc:docMk/>
            <pc:sldMk cId="255244003" sldId="261"/>
            <ac:spMk id="3" creationId="{00000000-0000-0000-0000-000000000000}"/>
          </ac:spMkLst>
        </pc:spChg>
      </pc:sldChg>
      <pc:sldChg chg="modSp mod">
        <pc:chgData name="Kevin Lundeen" userId="f41f08b3-201c-4bb1-b063-613ae9b71acc" providerId="ADAL" clId="{66C5F7A6-5AAF-BB47-9D4D-D37436FE5FC9}" dt="2023-09-21T18:45:08.164" v="98" actId="20577"/>
        <pc:sldMkLst>
          <pc:docMk/>
          <pc:sldMk cId="3707325420" sldId="265"/>
        </pc:sldMkLst>
        <pc:spChg chg="mod">
          <ac:chgData name="Kevin Lundeen" userId="f41f08b3-201c-4bb1-b063-613ae9b71acc" providerId="ADAL" clId="{66C5F7A6-5AAF-BB47-9D4D-D37436FE5FC9}" dt="2023-09-21T18:45:08.164" v="98" actId="20577"/>
          <ac:spMkLst>
            <pc:docMk/>
            <pc:sldMk cId="3707325420" sldId="265"/>
            <ac:spMk id="3" creationId="{00000000-0000-0000-0000-000000000000}"/>
          </ac:spMkLst>
        </pc:spChg>
      </pc:sldChg>
      <pc:sldChg chg="modSp mod">
        <pc:chgData name="Kevin Lundeen" userId="f41f08b3-201c-4bb1-b063-613ae9b71acc" providerId="ADAL" clId="{66C5F7A6-5AAF-BB47-9D4D-D37436FE5FC9}" dt="2023-09-21T18:44:57.899" v="91" actId="20577"/>
        <pc:sldMkLst>
          <pc:docMk/>
          <pc:sldMk cId="98926886" sldId="266"/>
        </pc:sldMkLst>
        <pc:spChg chg="mod">
          <ac:chgData name="Kevin Lundeen" userId="f41f08b3-201c-4bb1-b063-613ae9b71acc" providerId="ADAL" clId="{66C5F7A6-5AAF-BB47-9D4D-D37436FE5FC9}" dt="2023-09-21T18:44:57.899" v="91" actId="20577"/>
          <ac:spMkLst>
            <pc:docMk/>
            <pc:sldMk cId="98926886" sldId="266"/>
            <ac:spMk id="3" creationId="{00000000-0000-0000-0000-000000000000}"/>
          </ac:spMkLst>
        </pc:spChg>
      </pc:sldChg>
      <pc:sldChg chg="modSp mod">
        <pc:chgData name="Kevin Lundeen" userId="f41f08b3-201c-4bb1-b063-613ae9b71acc" providerId="ADAL" clId="{66C5F7A6-5AAF-BB47-9D4D-D37436FE5FC9}" dt="2023-09-21T18:27:24.858" v="2" actId="20577"/>
        <pc:sldMkLst>
          <pc:docMk/>
          <pc:sldMk cId="269456005" sldId="334"/>
        </pc:sldMkLst>
        <pc:spChg chg="mod">
          <ac:chgData name="Kevin Lundeen" userId="f41f08b3-201c-4bb1-b063-613ae9b71acc" providerId="ADAL" clId="{66C5F7A6-5AAF-BB47-9D4D-D37436FE5FC9}" dt="2023-09-21T18:27:24.858" v="2" actId="20577"/>
          <ac:spMkLst>
            <pc:docMk/>
            <pc:sldMk cId="269456005" sldId="334"/>
            <ac:spMk id="3" creationId="{52B60FF8-14AE-6741-8C87-E333D1B97E12}"/>
          </ac:spMkLst>
        </pc:spChg>
        <pc:picChg chg="mod">
          <ac:chgData name="Kevin Lundeen" userId="f41f08b3-201c-4bb1-b063-613ae9b71acc" providerId="ADAL" clId="{66C5F7A6-5AAF-BB47-9D4D-D37436FE5FC9}" dt="2023-09-21T18:27:23.196" v="0" actId="1076"/>
          <ac:picMkLst>
            <pc:docMk/>
            <pc:sldMk cId="269456005" sldId="334"/>
            <ac:picMk id="5" creationId="{EC78C92D-5F29-544D-93CF-4ECAA6BCC5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0583A-12EA-486A-A884-516D3CA299A2}" type="datetimeFigureOut">
              <a:rPr lang="en-US" smtClean="0"/>
              <a:t>9/26/24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37616-A5EF-4910-84DD-04C521447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FEE7-433D-794B-9484-178E30624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C1849-16E5-824D-816A-1143CD185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17200-57FB-E241-9F2E-F799380E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3267-0B28-E34A-975B-4FC5818E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7C49-CDCB-4C4E-88D3-E9C2FF8A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9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E80F-C613-2E44-B038-0688AC8E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213B-42FC-B242-82F9-2BF3B235B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27387-6CED-8042-BD41-0BC102E0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BBD1C-04F5-2845-9507-99D19BF1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7B5F5-293B-5D49-9671-FDD773AD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7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D69D-F70E-0148-B2BA-1DFA6A86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EB40C-667C-BC4A-89BF-FA76E04AC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CD10-A180-B949-AB81-8AC818C2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5BA4C-101A-A446-8147-95879A86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5C33-BF1A-4848-A925-30C44C47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0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199D-4319-214C-B0D8-8192E07C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65C6-1FF6-2742-82FF-910342A3F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2D5A-AC38-5E4E-8A18-A01416726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36A3A-DFEB-2448-B34C-4074CD69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1DD5D-1B2C-F44B-ACBA-9BE591D5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17E13-7DE1-904F-9CF1-8864368B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8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8635-9F98-9F4F-8EC1-657E3012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1FFED-BEB9-D946-8AA2-836CA8EE7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58A0B-0AE0-764C-8975-1CC340D9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0041E-D2EE-EC40-B7F4-AE33495D2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9218B-67E2-474B-9B21-C1158D436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8F2EB-8D6E-4B40-9E77-C8C13DE3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906CA-ADB3-D544-AB2F-FCB4C018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D6AED-B856-8E4C-9D86-E637E982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9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0AEB-5498-CB4B-BC4E-B72DEAAE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9B5CB-0481-0348-AD69-589E45EF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55DE6-22CD-A54F-BC8F-8499B709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EA196-A653-4445-B811-5803697D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CE8FE-0CB3-9247-A4E7-D4754947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CBA9D-A85D-9E40-8FE4-C93068EB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3B12A-7AF4-1343-A8AF-50571D08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4DD8-93D9-D741-AB70-F5FB5656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D1FB-70E1-3448-BB9A-D252A92A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1A54F-BFBA-3149-9AA6-2A92495EC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2F96B-CC14-604F-957F-755206D9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12D60-ACD4-4B43-9FED-14ABB369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816AE-F982-034F-9229-39371C91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EDC6-7327-7A4E-B35F-4C0A01BC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4A3AA-427A-D348-9ABA-D24E6D31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CF812-357B-8941-93E5-BD21982E1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87C3C-E9DC-D54A-BE2B-22CBFBF3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497F-FDD0-EB4C-86FE-B38F21B4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396FC-842A-8D4E-A9C4-406AD711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9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63FF-E40B-3445-AE3D-D10AE916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F9D13-621D-6245-A4A8-E8CC82EB3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BE391-A425-E54C-A721-0426B8D9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8BCD7-8572-F346-88C3-22008930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779CE-23CF-9843-B8CA-D87ACECB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3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23A27-BACF-364E-BF5C-D03415DD0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D0F49-F222-8141-9030-9D08AFEDF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D9CD-EF97-8D4E-B901-B5B03AE6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DFE9-FD1A-954B-8759-046407E0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52FA-DAB3-5141-97D5-8B964F58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>
                <a:alpha val="0"/>
                <a:lumMod val="52000"/>
              </a:srgbClr>
            </a:gs>
            <a:gs pos="100000">
              <a:schemeClr val="bg1">
                <a:alpha val="82000"/>
              </a:schemeClr>
            </a:gs>
          </a:gsLst>
          <a:lin ang="9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D7A9C-8918-A740-8018-EF071A29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7CE27-6B72-BC48-BB06-88D5182EA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09D8-0295-BD43-A6FC-7699724D0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67297-5DC6-AF41-82D9-D305CB62C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B349-CDE9-8548-8D0C-022975C7D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EC78C92D-5F29-544D-93CF-4ECAA6BCC5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2"/>
          <a:stretch/>
        </p:blipFill>
        <p:spPr>
          <a:xfrm>
            <a:off x="20" y="381000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C7814C-87BF-C744-8C79-F2083188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0511" y="1200152"/>
            <a:ext cx="5172879" cy="4457696"/>
          </a:xfrm>
        </p:spPr>
        <p:txBody>
          <a:bodyPr anchor="ctr">
            <a:normAutofit/>
          </a:bodyPr>
          <a:lstStyle/>
          <a:p>
            <a:pPr algn="l"/>
            <a:r>
              <a:rPr lang="en-US" sz="7000">
                <a:solidFill>
                  <a:srgbClr val="FFFFFF"/>
                </a:solidFill>
              </a:rPr>
              <a:t>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60FF8-14AE-6741-8C87-E333D1B97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472" y="1200152"/>
            <a:ext cx="2112401" cy="4457696"/>
          </a:xfrm>
        </p:spPr>
        <p:txBody>
          <a:bodyPr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Overview</a:t>
            </a:r>
          </a:p>
          <a:p>
            <a:pPr algn="r"/>
            <a:r>
              <a:rPr lang="en-US" sz="2400" dirty="0">
                <a:solidFill>
                  <a:srgbClr val="FFFFFF"/>
                </a:solidFill>
              </a:rPr>
              <a:t>CPSC 5520</a:t>
            </a:r>
          </a:p>
          <a:p>
            <a:pPr algn="r"/>
            <a:r>
              <a:rPr lang="en-US" sz="2400" dirty="0">
                <a:solidFill>
                  <a:srgbClr val="FFFFFF"/>
                </a:solidFill>
              </a:rPr>
              <a:t>Kevin Lundeen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4D17C8-E9C2-48A4-AA36-D7048A6C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1918" y="2286000"/>
            <a:ext cx="0" cy="22860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6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058" y="4673467"/>
            <a:ext cx="5204792" cy="13030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Technology Advances Enable and Motivate Distributed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95CA9F-DDAC-184F-BEA7-4DDF0C42C7FB}"/>
              </a:ext>
            </a:extLst>
          </p:cNvPr>
          <p:cNvSpPr txBox="1"/>
          <p:nvPr/>
        </p:nvSpPr>
        <p:spPr>
          <a:xfrm>
            <a:off x="5999437" y="4673467"/>
            <a:ext cx="2077757" cy="1303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Slides adapted from Dr.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Yingwu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Zhu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1" y="2707204"/>
            <a:ext cx="721796" cy="721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2" y="2603242"/>
            <a:ext cx="220271" cy="220271"/>
          </a:xfrm>
          <a:prstGeom prst="ellipse">
            <a:avLst/>
          </a:prstGeom>
          <a:solidFill>
            <a:srgbClr val="E6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5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8FB86CFC-3F17-3946-B972-9D504FAA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" r="1280" b="1"/>
          <a:stretch/>
        </p:blipFill>
        <p:spPr>
          <a:xfrm>
            <a:off x="4183543" y="10"/>
            <a:ext cx="4960458" cy="3532641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11659" y="4673467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8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Advances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00" y="2209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3149025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Processors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312420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600" y="4139625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419100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Protocols</a:t>
            </a:r>
          </a:p>
        </p:txBody>
      </p:sp>
    </p:spTree>
    <p:extLst>
      <p:ext uri="{BB962C8B-B14F-4D97-AF65-F5344CB8AC3E}">
        <p14:creationId xmlns:p14="http://schemas.microsoft.com/office/powerpoint/2010/main" val="17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Networking:  Ethernet − 1973, 1976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>
                <a:solidFill>
                  <a:srgbClr val="C00000"/>
                </a:solidFill>
              </a:rPr>
              <a:t>June 1976</a:t>
            </a:r>
            <a:r>
              <a:rPr lang="en-US" sz="2600" dirty="0"/>
              <a:t>: Robert Metcalfe presented the concept of Ethernet at the National Computer Conference</a:t>
            </a:r>
          </a:p>
          <a:p>
            <a:r>
              <a:rPr lang="en-US" sz="2600" dirty="0">
                <a:solidFill>
                  <a:srgbClr val="C00000"/>
                </a:solidFill>
              </a:rPr>
              <a:t>1980</a:t>
            </a:r>
            <a:r>
              <a:rPr lang="en-US" sz="2600" dirty="0"/>
              <a:t>: Ethernet introduced as de facto standard (DEC, Intel, Xerox)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447800"/>
            <a:ext cx="581025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2772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LAN speed</a:t>
            </a:r>
          </a:p>
          <a:p>
            <a:pPr lvl="1"/>
            <a:r>
              <a:rPr lang="en-US" dirty="0"/>
              <a:t>Original Ethernet: 2.94 Mbps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1985</a:t>
            </a:r>
            <a:r>
              <a:rPr lang="en-US" dirty="0"/>
              <a:t>: thick Ethernet: 10 Mbps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1991</a:t>
            </a:r>
            <a:r>
              <a:rPr lang="en-US" dirty="0"/>
              <a:t>: 10BaseT – twisted pair: 10 Mbps – switched networking: scalable bandwidth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1995</a:t>
            </a:r>
            <a:r>
              <a:rPr lang="en-US" dirty="0"/>
              <a:t>: 100 Mbps Ethernet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2001</a:t>
            </a:r>
            <a:r>
              <a:rPr lang="en-US" dirty="0"/>
              <a:t>: 10 </a:t>
            </a:r>
            <a:r>
              <a:rPr lang="en-US" dirty="0" err="1"/>
              <a:t>Gbps</a:t>
            </a:r>
            <a:r>
              <a:rPr lang="en-US" dirty="0"/>
              <a:t> introduced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2005 – 2018</a:t>
            </a:r>
            <a:r>
              <a:rPr lang="en-US" dirty="0"/>
              <a:t>: 40/100 Gbps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Now</a:t>
            </a:r>
            <a:r>
              <a:rPr lang="en-US" dirty="0"/>
              <a:t>: “Terabit” Ethernet 800 Gbps </a:t>
            </a:r>
          </a:p>
          <a:p>
            <a:r>
              <a:rPr lang="en-US" dirty="0"/>
              <a:t>Wireless LAN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1999</a:t>
            </a:r>
            <a:r>
              <a:rPr lang="en-US" dirty="0"/>
              <a:t>: 802.11b (wireless Ethernet) standardized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2014</a:t>
            </a:r>
            <a:r>
              <a:rPr lang="en-US" dirty="0"/>
              <a:t>: 802.11ac = 8 × 866.7 Mbps = 7 Gbps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2020</a:t>
            </a:r>
            <a:r>
              <a:rPr lang="en-US" dirty="0"/>
              <a:t>: 802.11ax claim 11 Gbps (theoretical 14 Gbps)</a:t>
            </a:r>
          </a:p>
          <a:p>
            <a:r>
              <a:rPr lang="en-US" dirty="0"/>
              <a:t>Personal Area Networks (PAN): Bluetooth, ZigBee, Z-Wave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3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43434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Then</a:t>
            </a:r>
          </a:p>
          <a:p>
            <a:pPr lvl="1"/>
            <a:r>
              <a:rPr lang="en-US" dirty="0"/>
              <a:t>Large companies and universities on Internet</a:t>
            </a:r>
          </a:p>
          <a:p>
            <a:pPr lvl="1"/>
            <a:r>
              <a:rPr lang="en-US" dirty="0"/>
              <a:t>Gateways between other networks</a:t>
            </a:r>
          </a:p>
          <a:p>
            <a:pPr lvl="1"/>
            <a:r>
              <a:rPr lang="en-US" dirty="0"/>
              <a:t>Consumers used dial-up bulletin board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1985</a:t>
            </a:r>
            <a:r>
              <a:rPr lang="en-US" dirty="0"/>
              <a:t>: 1,961 hosts on Internet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Now</a:t>
            </a:r>
          </a:p>
          <a:p>
            <a:pPr lvl="1"/>
            <a:r>
              <a:rPr lang="en-US" dirty="0"/>
              <a:t>One Internet (mostly)</a:t>
            </a:r>
          </a:p>
          <a:p>
            <a:pPr lvl="1"/>
            <a:r>
              <a:rPr lang="en-US" dirty="0"/>
              <a:t>Over a billion hosts</a:t>
            </a:r>
          </a:p>
          <a:p>
            <a:pPr lvl="1"/>
            <a:r>
              <a:rPr lang="en-US" dirty="0"/>
              <a:t>Widespread connectivity</a:t>
            </a:r>
          </a:p>
          <a:p>
            <a:pPr lvl="1"/>
            <a:r>
              <a:rPr lang="en-US" dirty="0"/>
              <a:t>High-speed WAN connectivity: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&gt; 50 Mbps … 1 </a:t>
            </a:r>
            <a:r>
              <a:rPr lang="en-US" dirty="0" err="1">
                <a:solidFill>
                  <a:srgbClr val="C00000"/>
                </a:solidFill>
              </a:rPr>
              <a:t>Gbps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Switched LANs</a:t>
            </a:r>
          </a:p>
          <a:p>
            <a:pPr lvl="1"/>
            <a:r>
              <a:rPr lang="en-US" dirty="0"/>
              <a:t>Wireless networking</a:t>
            </a:r>
          </a:p>
          <a:p>
            <a:pPr lvl="1"/>
            <a:r>
              <a:rPr lang="en-US" dirty="0"/>
              <a:t>Mobile networking (5G up to 20 Gbps)</a:t>
            </a:r>
          </a:p>
        </p:txBody>
      </p:sp>
      <p:pic>
        <p:nvPicPr>
          <p:cNvPr id="1028" name="Picture 4" descr="Image result for internet host count graphs fig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303564"/>
            <a:ext cx="4561114" cy="342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4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Metcalfe’s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5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“The value of a telecommunications network is proportional to the square of the number of connected users of the system 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)”</a:t>
            </a:r>
          </a:p>
        </p:txBody>
      </p:sp>
      <p:pic>
        <p:nvPicPr>
          <p:cNvPr id="2050" name="Picture 2" descr="Image result for google logo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3340"/>
            <a:ext cx="1673225" cy="56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facebook logo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95646"/>
            <a:ext cx="1775011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ebay logo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033340"/>
            <a:ext cx="1332002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Image result for Wechat logo png"/>
          <p:cNvSpPr>
            <a:spLocks noChangeAspect="1" noChangeArrowheads="1"/>
          </p:cNvSpPr>
          <p:nvPr/>
        </p:nvSpPr>
        <p:spPr bwMode="auto">
          <a:xfrm>
            <a:off x="155575" y="-2179638"/>
            <a:ext cx="4686300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0" descr="Image result for Wechat logo png"/>
          <p:cNvSpPr>
            <a:spLocks noChangeAspect="1" noChangeArrowheads="1"/>
          </p:cNvSpPr>
          <p:nvPr/>
        </p:nvSpPr>
        <p:spPr bwMode="auto">
          <a:xfrm>
            <a:off x="307975" y="-2027238"/>
            <a:ext cx="4686300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2" descr="Image result for Wechat logo png"/>
          <p:cNvSpPr>
            <a:spLocks noChangeAspect="1" noChangeArrowheads="1"/>
          </p:cNvSpPr>
          <p:nvPr/>
        </p:nvSpPr>
        <p:spPr bwMode="auto">
          <a:xfrm>
            <a:off x="460375" y="-1874838"/>
            <a:ext cx="4686300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2" name="Picture 14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" y="5145881"/>
            <a:ext cx="12954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R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145881"/>
            <a:ext cx="2281142" cy="106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Image result for Skype logo 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336" y="4862512"/>
            <a:ext cx="1531327" cy="153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57039" y="3310871"/>
            <a:ext cx="69223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This makes networking interesting to us!</a:t>
            </a:r>
          </a:p>
        </p:txBody>
      </p:sp>
    </p:spTree>
    <p:extLst>
      <p:ext uri="{BB962C8B-B14F-4D97-AF65-F5344CB8AC3E}">
        <p14:creationId xmlns:p14="http://schemas.microsoft.com/office/powerpoint/2010/main" val="135321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got</a:t>
            </a:r>
          </a:p>
          <a:p>
            <a:pPr lvl="1"/>
            <a:r>
              <a:rPr lang="en-US" dirty="0"/>
              <a:t>Smaller</a:t>
            </a:r>
          </a:p>
          <a:p>
            <a:pPr lvl="1"/>
            <a:r>
              <a:rPr lang="en-US" dirty="0"/>
              <a:t>Cheaper</a:t>
            </a:r>
          </a:p>
          <a:p>
            <a:pPr lvl="1"/>
            <a:r>
              <a:rPr lang="en-US" dirty="0"/>
              <a:t>Power efficient</a:t>
            </a:r>
          </a:p>
          <a:p>
            <a:pPr lvl="1"/>
            <a:r>
              <a:rPr lang="en-US" dirty="0"/>
              <a:t>Faster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C00000"/>
                </a:solidFill>
              </a:rPr>
              <a:t>Microprocessors</a:t>
            </a:r>
            <a:r>
              <a:rPr lang="en-US" dirty="0"/>
              <a:t> became technology leaders</a:t>
            </a:r>
          </a:p>
        </p:txBody>
      </p:sp>
    </p:spTree>
    <p:extLst>
      <p:ext uri="{BB962C8B-B14F-4D97-AF65-F5344CB8AC3E}">
        <p14:creationId xmlns:p14="http://schemas.microsoft.com/office/powerpoint/2010/main" val="373372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Computer Power (Processors)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0"/>
            <a:ext cx="1963189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614057"/>
            <a:ext cx="1946246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64260"/>
            <a:ext cx="2181225" cy="94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2" y="1623136"/>
            <a:ext cx="1976437" cy="884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102" y="1623137"/>
            <a:ext cx="146298" cy="884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>
            <a:stCxn id="1026" idx="2"/>
          </p:cNvCxnSpPr>
          <p:nvPr/>
        </p:nvCxnSpPr>
        <p:spPr>
          <a:xfrm flipH="1">
            <a:off x="1438794" y="5562600"/>
            <a:ext cx="1" cy="152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666999" y="4495800"/>
            <a:ext cx="2" cy="1219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581400" y="3487100"/>
            <a:ext cx="2" cy="2227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572000" y="2493491"/>
            <a:ext cx="2" cy="32215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7086598" y="4648200"/>
            <a:ext cx="2" cy="1066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1" y="2564260"/>
            <a:ext cx="2286000" cy="2174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5724525"/>
            <a:ext cx="5429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715000"/>
            <a:ext cx="5334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715000"/>
            <a:ext cx="5334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5715000"/>
            <a:ext cx="5715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705475"/>
            <a:ext cx="5715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143625"/>
            <a:ext cx="81057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152400" y="914400"/>
            <a:ext cx="2743200" cy="11511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70C0"/>
                </a:solidFill>
              </a:rPr>
              <a:t>1985 – now</a:t>
            </a:r>
          </a:p>
          <a:p>
            <a:r>
              <a:rPr lang="en-US" sz="1600" dirty="0">
                <a:solidFill>
                  <a:srgbClr val="0070C0"/>
                </a:solidFill>
              </a:rPr>
              <a:t>− 714x smaller transistors</a:t>
            </a:r>
          </a:p>
          <a:p>
            <a:r>
              <a:rPr lang="en-US" sz="1600" dirty="0">
                <a:solidFill>
                  <a:srgbClr val="0070C0"/>
                </a:solidFill>
              </a:rPr>
              <a:t>− &gt; 7000x more transistors</a:t>
            </a:r>
          </a:p>
          <a:p>
            <a:r>
              <a:rPr lang="en-US" sz="1600" dirty="0">
                <a:solidFill>
                  <a:srgbClr val="0070C0"/>
                </a:solidFill>
              </a:rPr>
              <a:t>− &gt; 120x faster clock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13" name="Rounded Rectangular Callout 12"/>
          <p:cNvSpPr/>
          <p:nvPr/>
        </p:nvSpPr>
        <p:spPr>
          <a:xfrm>
            <a:off x="5334001" y="838200"/>
            <a:ext cx="3657600" cy="1524000"/>
          </a:xfrm>
          <a:prstGeom prst="wedgeRoundRectCallout">
            <a:avLst>
              <a:gd name="adj1" fmla="val -57208"/>
              <a:gd name="adj2" fmla="val 39223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</a:rPr>
              <a:t>We can no longer make CPUs much faster.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How do we get increased performance? More cores.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→ parallel system on a chip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283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Content: Music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81600"/>
          </a:xfrm>
        </p:spPr>
        <p:txBody>
          <a:bodyPr>
            <a:normAutofit/>
          </a:bodyPr>
          <a:lstStyle/>
          <a:p>
            <a:r>
              <a:rPr lang="en-US" dirty="0"/>
              <a:t>Example: 9,839 songs</a:t>
            </a:r>
          </a:p>
          <a:p>
            <a:pPr lvl="1"/>
            <a:r>
              <a:rPr lang="en-US" dirty="0"/>
              <a:t>49GB,   Avg. = 5.2 MB/song</a:t>
            </a:r>
          </a:p>
          <a:p>
            <a:r>
              <a:rPr lang="en-US" dirty="0"/>
              <a:t>Today</a:t>
            </a:r>
          </a:p>
          <a:p>
            <a:pPr lvl="1"/>
            <a:r>
              <a:rPr lang="en-US" dirty="0"/>
              <a:t>Streaming (Pandora/Spotify): 96 – 320 kbps</a:t>
            </a:r>
          </a:p>
          <a:p>
            <a:pPr lvl="1"/>
            <a:r>
              <a:rPr lang="en-US" dirty="0"/>
              <a:t>Download time per song @ 100 Mbps: ~ 0.4 seconds</a:t>
            </a:r>
          </a:p>
          <a:p>
            <a:pPr lvl="1"/>
            <a:r>
              <a:rPr lang="en-US" dirty="0"/>
              <a:t>Storage cost for this collection: ~ $1 ($100 for a 4 TB drive)</a:t>
            </a:r>
          </a:p>
          <a:p>
            <a:r>
              <a:rPr lang="en-US" dirty="0"/>
              <a:t>~ 40 </a:t>
            </a:r>
            <a:r>
              <a:rPr lang="en-US"/>
              <a:t>years ago (1985)</a:t>
            </a:r>
            <a:endParaRPr lang="en-US" dirty="0"/>
          </a:p>
          <a:p>
            <a:pPr lvl="1"/>
            <a:r>
              <a:rPr lang="en-US" dirty="0"/>
              <a:t>Streaming</a:t>
            </a:r>
          </a:p>
          <a:p>
            <a:pPr lvl="1"/>
            <a:r>
              <a:rPr lang="en-US" dirty="0"/>
              <a:t>Download time per song, V90 modem @ 44 kbps: 15 minutes</a:t>
            </a:r>
          </a:p>
          <a:p>
            <a:pPr lvl="1"/>
            <a:r>
              <a:rPr lang="en-US" dirty="0"/>
              <a:t>Storage cost: $511, 640 (40 MB at $400 – over 1,279 drives!)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088796" y="3751001"/>
            <a:ext cx="11430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143000" y="3757286"/>
            <a:ext cx="1066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32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Content: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  <a:p>
            <a:pPr lvl="1"/>
            <a:r>
              <a:rPr lang="en-US" dirty="0"/>
              <a:t>Netflix streaming 4K video @ 15.6 Mbps (HEVC/h.265 codec)</a:t>
            </a:r>
          </a:p>
          <a:p>
            <a:pPr lvl="1"/>
            <a:r>
              <a:rPr lang="en-US" dirty="0"/>
              <a:t>YouTube: stores ~ 76 PB (76×10</a:t>
            </a:r>
            <a:r>
              <a:rPr lang="en-US" baseline="30000" dirty="0"/>
              <a:t>15</a:t>
            </a:r>
            <a:r>
              <a:rPr lang="en-US" dirty="0"/>
              <a:t>) per year</a:t>
            </a:r>
          </a:p>
          <a:p>
            <a:pPr lvl="1"/>
            <a:endParaRPr lang="en-US" dirty="0"/>
          </a:p>
          <a:p>
            <a:r>
              <a:rPr lang="en-US" dirty="0"/>
              <a:t>~ 40 years ago (1985)</a:t>
            </a:r>
          </a:p>
          <a:p>
            <a:pPr lvl="1"/>
            <a:r>
              <a:rPr lang="en-US" dirty="0"/>
              <a:t>Streaming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219200" y="3505200"/>
            <a:ext cx="11430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1219200" y="3505200"/>
            <a:ext cx="1066800" cy="30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2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have been developed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APIs for network communication</a:t>
            </a:r>
            <a:endParaRPr lang="en-US" dirty="0"/>
          </a:p>
          <a:p>
            <a:r>
              <a:rPr lang="en-US" dirty="0"/>
              <a:t>Faster CPU </a:t>
            </a:r>
          </a:p>
          <a:p>
            <a:pPr lvl="1">
              <a:buFont typeface="Wingdings"/>
              <a:buChar char="à"/>
            </a:pPr>
            <a:r>
              <a:rPr lang="en-US" dirty="0">
                <a:sym typeface="Wingdings" panose="05000000000000000000" pitchFamily="2" charset="2"/>
              </a:rPr>
              <a:t>Affordable for protocol processing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    ECC, TCP checksums, parsing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    Image and video compression feasible</a:t>
            </a:r>
          </a:p>
          <a:p>
            <a:r>
              <a:rPr lang="en-US" dirty="0">
                <a:sym typeface="Wingdings" panose="05000000000000000000" pitchFamily="2" charset="2"/>
              </a:rPr>
              <a:t>Faster network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 support bigger (and bloated) protocols</a:t>
            </a:r>
          </a:p>
          <a:p>
            <a:pPr marL="457200" lvl="1" indent="0">
              <a:buNone/>
            </a:pPr>
            <a:r>
              <a:rPr lang="en-US" dirty="0"/>
              <a:t>E.g., SOAP/XML, JSON – Human readable, explicit typing</a:t>
            </a:r>
          </a:p>
        </p:txBody>
      </p:sp>
    </p:spTree>
    <p:extLst>
      <p:ext uri="{BB962C8B-B14F-4D97-AF65-F5344CB8AC3E}">
        <p14:creationId xmlns:p14="http://schemas.microsoft.com/office/powerpoint/2010/main" val="2785408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058" y="4673467"/>
            <a:ext cx="5204792" cy="13030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build distributed systems?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1" y="2707204"/>
            <a:ext cx="721796" cy="7217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2" y="2603242"/>
            <a:ext cx="220271" cy="220271"/>
          </a:xfrm>
          <a:prstGeom prst="ellipse">
            <a:avLst/>
          </a:prstGeom>
          <a:solidFill>
            <a:srgbClr val="E6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5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8FB86CFC-3F17-3946-B972-9D504FAA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3" r="1279" b="1"/>
          <a:stretch/>
        </p:blipFill>
        <p:spPr>
          <a:xfrm>
            <a:off x="4183543" y="10"/>
            <a:ext cx="4960458" cy="3532641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11659" y="4673467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65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independent, autonomous hosts connected through a communication network working together to perform a service</a:t>
            </a:r>
          </a:p>
          <a:p>
            <a:pPr lvl="1"/>
            <a:r>
              <a:rPr lang="en-US" dirty="0"/>
              <a:t>No shared memory</a:t>
            </a:r>
          </a:p>
          <a:p>
            <a:pPr lvl="2"/>
            <a:r>
              <a:rPr lang="en-US" dirty="0"/>
              <a:t>must use the network</a:t>
            </a:r>
          </a:p>
          <a:p>
            <a:pPr lvl="1"/>
            <a:r>
              <a:rPr lang="en-US" dirty="0"/>
              <a:t>No shared clock</a:t>
            </a:r>
          </a:p>
          <a:p>
            <a:pPr lvl="2"/>
            <a:r>
              <a:rPr lang="en-US" dirty="0"/>
              <a:t>a root cause for complexity of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293253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805363"/>
          </a:xfrm>
        </p:spPr>
        <p:txBody>
          <a:bodyPr>
            <a:normAutofit/>
          </a:bodyPr>
          <a:lstStyle/>
          <a:p>
            <a:r>
              <a:rPr lang="en-US" dirty="0"/>
              <a:t>Single System Image</a:t>
            </a:r>
          </a:p>
          <a:p>
            <a:pPr lvl="1"/>
            <a:r>
              <a:rPr lang="en-US" dirty="0"/>
              <a:t>Collection of independent computers that appears as a single system to the user(s)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Independent</a:t>
            </a:r>
            <a:r>
              <a:rPr lang="en-US" dirty="0"/>
              <a:t> = autonomous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Single system</a:t>
            </a:r>
            <a:r>
              <a:rPr lang="en-US" dirty="0"/>
              <a:t>: users are not aware of distribution</a:t>
            </a:r>
          </a:p>
          <a:p>
            <a:r>
              <a:rPr lang="en-US" dirty="0"/>
              <a:t>Multiprocessors</a:t>
            </a:r>
          </a:p>
          <a:p>
            <a:pPr lvl="1"/>
            <a:r>
              <a:rPr lang="en-US" dirty="0"/>
              <a:t>Shared memory</a:t>
            </a:r>
          </a:p>
          <a:p>
            <a:pPr lvl="1"/>
            <a:r>
              <a:rPr lang="en-US" dirty="0"/>
              <a:t>Shared clock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All-or-nothing</a:t>
            </a:r>
            <a:r>
              <a:rPr lang="en-US" dirty="0"/>
              <a:t> failure</a:t>
            </a:r>
          </a:p>
          <a:p>
            <a:r>
              <a:rPr lang="en-US" dirty="0" err="1"/>
              <a:t>Multicomputers</a:t>
            </a:r>
            <a:endParaRPr lang="en-US" dirty="0"/>
          </a:p>
          <a:p>
            <a:pPr lvl="1"/>
            <a:r>
              <a:rPr lang="en-US" dirty="0"/>
              <a:t>No shared memory</a:t>
            </a:r>
          </a:p>
          <a:p>
            <a:pPr lvl="1"/>
            <a:r>
              <a:rPr lang="en-US" dirty="0"/>
              <a:t>No shared clock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Partial </a:t>
            </a:r>
            <a:r>
              <a:rPr lang="en-US" dirty="0"/>
              <a:t>failures</a:t>
            </a:r>
          </a:p>
          <a:p>
            <a:pPr lvl="1"/>
            <a:r>
              <a:rPr lang="en-US" dirty="0"/>
              <a:t>Inter-computer communication: network</a:t>
            </a:r>
          </a:p>
          <a:p>
            <a:pPr lvl="2"/>
            <a:r>
              <a:rPr lang="en-US" dirty="0"/>
              <a:t>Traffic much lower (and slower) than memory access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4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  <a:p>
            <a:r>
              <a:rPr lang="en-US" dirty="0"/>
              <a:t>High availability</a:t>
            </a:r>
          </a:p>
          <a:p>
            <a:r>
              <a:rPr lang="en-US" dirty="0"/>
              <a:t>Fault tolerance</a:t>
            </a:r>
          </a:p>
          <a:p>
            <a:r>
              <a:rPr lang="en-US" dirty="0"/>
              <a:t>Reduced latency</a:t>
            </a:r>
          </a:p>
          <a:p>
            <a:r>
              <a:rPr lang="en-US" dirty="0"/>
              <a:t>Delegated operations</a:t>
            </a:r>
          </a:p>
          <a:p>
            <a:r>
              <a:rPr lang="en-US" dirty="0"/>
              <a:t>Collaboration</a:t>
            </a:r>
          </a:p>
          <a:p>
            <a:r>
              <a:rPr lang="en-US" dirty="0"/>
              <a:t>Mobility</a:t>
            </a:r>
          </a:p>
          <a:p>
            <a:r>
              <a:rPr lang="en-US" dirty="0"/>
              <a:t>Incremental cost</a:t>
            </a:r>
          </a:p>
        </p:txBody>
      </p:sp>
    </p:spTree>
    <p:extLst>
      <p:ext uri="{BB962C8B-B14F-4D97-AF65-F5344CB8AC3E}">
        <p14:creationId xmlns:p14="http://schemas.microsoft.com/office/powerpoint/2010/main" val="186441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Scale: Increased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Computers are getting faster</a:t>
            </a:r>
          </a:p>
          <a:p>
            <a:r>
              <a:rPr lang="en-US" dirty="0">
                <a:solidFill>
                  <a:srgbClr val="C00000"/>
                </a:solidFill>
              </a:rPr>
              <a:t>Moore’s Law</a:t>
            </a:r>
          </a:p>
          <a:p>
            <a:pPr lvl="1"/>
            <a:r>
              <a:rPr lang="en-US" dirty="0"/>
              <a:t>“</a:t>
            </a:r>
            <a:r>
              <a:rPr lang="en-US" i="1" dirty="0">
                <a:solidFill>
                  <a:srgbClr val="C00000"/>
                </a:solidFill>
              </a:rPr>
              <a:t>The number of transistors in an integrated circuit doubles approximately every two years</a:t>
            </a:r>
            <a:r>
              <a:rPr lang="en-US" dirty="0"/>
              <a:t>.” </a:t>
            </a:r>
          </a:p>
          <a:p>
            <a:pPr lvl="1"/>
            <a:r>
              <a:rPr lang="en-US" dirty="0"/>
              <a:t>Commonly described as performance doubling every 18 months because of faster transistors and more transistors per chip</a:t>
            </a:r>
          </a:p>
          <a:p>
            <a:r>
              <a:rPr lang="en-US" dirty="0"/>
              <a:t>Not a real law: – just an observation from the 1970s</a:t>
            </a:r>
          </a:p>
        </p:txBody>
      </p:sp>
    </p:spTree>
    <p:extLst>
      <p:ext uri="{BB962C8B-B14F-4D97-AF65-F5344CB8AC3E}">
        <p14:creationId xmlns:p14="http://schemas.microsoft.com/office/powerpoint/2010/main" val="131306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oore's law 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38"/>
            <a:ext cx="8001000" cy="580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4457" y="6400800"/>
            <a:ext cx="705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https://commons.wikimedia.org/wiki/File:Moores_law_(1970-2011).PNG</a:t>
            </a:r>
          </a:p>
        </p:txBody>
      </p:sp>
    </p:spTree>
    <p:extLst>
      <p:ext uri="{BB962C8B-B14F-4D97-AF65-F5344CB8AC3E}">
        <p14:creationId xmlns:p14="http://schemas.microsoft.com/office/powerpoint/2010/main" val="2117439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harder for technology to keep up with Moore's law</a:t>
            </a:r>
          </a:p>
          <a:p>
            <a:pPr lvl="1"/>
            <a:r>
              <a:rPr lang="en-US" dirty="0"/>
              <a:t>More cores per chip → requires multithreaded programming</a:t>
            </a:r>
          </a:p>
          <a:p>
            <a:pPr lvl="1"/>
            <a:r>
              <a:rPr lang="en-US" dirty="0"/>
              <a:t>There are limits</a:t>
            </a:r>
          </a:p>
          <a:p>
            <a:pPr lvl="2"/>
            <a:r>
              <a:rPr lang="en-US" dirty="0"/>
              <a:t>Intel Xeon CPU Max 9480: 56 cores per chip (&gt;$10,000/chip!)</a:t>
            </a:r>
          </a:p>
          <a:p>
            <a:pPr lvl="2"/>
            <a:r>
              <a:rPr lang="en-US" dirty="0"/>
              <a:t>NVIDIA GeForce RTX4090: 16,384 CUDA cores per chip</a:t>
            </a:r>
          </a:p>
          <a:p>
            <a:pPr lvl="3"/>
            <a:r>
              <a:rPr lang="en-US" dirty="0"/>
              <a:t>Special purpose apps: Graphics rendering, neural networks</a:t>
            </a:r>
          </a:p>
          <a:p>
            <a:r>
              <a:rPr lang="en-US" dirty="0"/>
              <a:t>We want to build systems that can process billions of requests per day</a:t>
            </a:r>
          </a:p>
          <a:p>
            <a:pPr lvl="1"/>
            <a:r>
              <a:rPr lang="en-US" dirty="0"/>
              <a:t>Google gets over 40,000 queries per second</a:t>
            </a:r>
          </a:p>
          <a:p>
            <a:pPr lvl="1"/>
            <a:r>
              <a:rPr lang="en-US" dirty="0"/>
              <a:t>Facebook:</a:t>
            </a:r>
          </a:p>
          <a:p>
            <a:pPr lvl="2"/>
            <a:r>
              <a:rPr lang="en-US" dirty="0"/>
              <a:t>&gt;2 billion searches per day; 13 million database queries per second</a:t>
            </a:r>
          </a:p>
          <a:p>
            <a:r>
              <a:rPr lang="en-US" dirty="0"/>
              <a:t>We also want access to </a:t>
            </a:r>
            <a:r>
              <a:rPr lang="en-US" dirty="0" err="1"/>
              <a:t>exabytes</a:t>
            </a:r>
            <a:r>
              <a:rPr lang="en-US" dirty="0"/>
              <a:t> (10</a:t>
            </a:r>
            <a:r>
              <a:rPr lang="en-US" baseline="30000" dirty="0"/>
              <a:t>18</a:t>
            </a:r>
            <a:r>
              <a:rPr lang="en-US" dirty="0"/>
              <a:t>) of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37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massive performance?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Multiprocessor systems don’t scale!</a:t>
            </a:r>
          </a:p>
          <a:p>
            <a:r>
              <a:rPr lang="en-US" dirty="0"/>
              <a:t>Example: movie rendering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Toy Story 3</a:t>
            </a:r>
            <a:r>
              <a:rPr lang="en-US" dirty="0"/>
              <a:t>: average frame takes 7 hours to render</a:t>
            </a:r>
          </a:p>
          <a:p>
            <a:pPr lvl="2"/>
            <a:r>
              <a:rPr lang="en-US" dirty="0"/>
              <a:t>Some can take 39 hours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>
                <a:solidFill>
                  <a:srgbClr val="C00000"/>
                </a:solidFill>
              </a:rPr>
              <a:t>Monsters University</a:t>
            </a:r>
            <a:r>
              <a:rPr lang="en-US" dirty="0"/>
              <a:t>: an average of 29 hours per frame</a:t>
            </a:r>
          </a:p>
          <a:p>
            <a:pPr lvl="2"/>
            <a:r>
              <a:rPr lang="en-US" dirty="0"/>
              <a:t>2,000 computers with 12,500 cores</a:t>
            </a:r>
          </a:p>
          <a:p>
            <a:pPr lvl="2"/>
            <a:r>
              <a:rPr lang="en-US" dirty="0"/>
              <a:t>Total time: over 100 million CPU hours</a:t>
            </a:r>
          </a:p>
          <a:p>
            <a:pPr lvl="2"/>
            <a:r>
              <a:rPr lang="en-US" dirty="0"/>
              <a:t>3, 000 to over 5,000 AMD processors; 10 </a:t>
            </a:r>
            <a:r>
              <a:rPr lang="en-US" dirty="0" err="1"/>
              <a:t>Gbps</a:t>
            </a:r>
            <a:r>
              <a:rPr lang="en-US" dirty="0"/>
              <a:t> and 1 </a:t>
            </a:r>
            <a:r>
              <a:rPr lang="en-US" dirty="0" err="1"/>
              <a:t>Gbps</a:t>
            </a:r>
            <a:r>
              <a:rPr lang="en-US" dirty="0"/>
              <a:t> networks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Disney's Frozen</a:t>
            </a:r>
          </a:p>
          <a:p>
            <a:pPr lvl="2"/>
            <a:r>
              <a:rPr lang="da-DK" dirty="0"/>
              <a:t>30,000 core renderfarm – 60M render hours – 5 PB storage</a:t>
            </a:r>
            <a:endParaRPr lang="en-US" dirty="0"/>
          </a:p>
          <a:p>
            <a:r>
              <a:rPr lang="en-US" dirty="0"/>
              <a:t>Google</a:t>
            </a:r>
          </a:p>
          <a:p>
            <a:pPr lvl="1"/>
            <a:r>
              <a:rPr lang="en-US" dirty="0"/>
              <a:t>Over 40,000 search queries per second on average</a:t>
            </a:r>
          </a:p>
          <a:p>
            <a:pPr lvl="1" algn="just"/>
            <a:r>
              <a:rPr lang="en-US" dirty="0"/>
              <a:t>Index &gt;50 billion web pages</a:t>
            </a:r>
          </a:p>
          <a:p>
            <a:pPr lvl="1" algn="just"/>
            <a:r>
              <a:rPr lang="en-US" dirty="0"/>
              <a:t>Uses hundreds of thousands of servers to do this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03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High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Redundancy</a:t>
            </a:r>
            <a:r>
              <a:rPr lang="en-US" dirty="0"/>
              <a:t> = replicated components </a:t>
            </a:r>
          </a:p>
          <a:p>
            <a:pPr lvl="1"/>
            <a:r>
              <a:rPr lang="en-US" dirty="0"/>
              <a:t>Service can run even if some systems fail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C00000"/>
                </a:solidFill>
              </a:rPr>
              <a:t>P(any one system down) = 5%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P(2 systems down at the same time) = 5%×5% = 0.25% </a:t>
            </a:r>
          </a:p>
          <a:p>
            <a:pPr lvl="1"/>
            <a:r>
              <a:rPr lang="en-US" dirty="0"/>
              <a:t>BUT if we need all systems up to provide </a:t>
            </a:r>
            <a:r>
              <a:rPr lang="en-US"/>
              <a:t>a </a:t>
            </a:r>
            <a:br>
              <a:rPr lang="en-US"/>
            </a:br>
            <a:r>
              <a:rPr lang="en-US"/>
              <a:t>service </a:t>
            </a:r>
            <a:r>
              <a:rPr lang="en-US" dirty="0">
                <a:solidFill>
                  <a:srgbClr val="C00000"/>
                </a:solidFill>
              </a:rPr>
              <a:t>P(any system down) </a:t>
            </a:r>
            <a:r>
              <a:rPr lang="en-US">
                <a:solidFill>
                  <a:srgbClr val="C00000"/>
                </a:solidFill>
              </a:rPr>
              <a:t>≈ 10% </a:t>
            </a:r>
            <a:r>
              <a:rPr lang="en-US" dirty="0"/>
              <a:t>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209800"/>
            <a:ext cx="3352800" cy="91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60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7750BE-D7F7-0C44-9B51-530DEF2C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Fault 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Availability Requires Fault Tolerance</a:t>
            </a:r>
          </a:p>
          <a:p>
            <a:endParaRPr lang="en-US" dirty="0"/>
          </a:p>
          <a:p>
            <a:r>
              <a:rPr lang="en-US" dirty="0"/>
              <a:t>Fault tolerance</a:t>
            </a:r>
          </a:p>
          <a:p>
            <a:pPr lvl="1"/>
            <a:r>
              <a:rPr lang="en-US" dirty="0"/>
              <a:t>Identify &amp; recover from component failures </a:t>
            </a:r>
          </a:p>
          <a:p>
            <a:endParaRPr lang="en-US" dirty="0"/>
          </a:p>
          <a:p>
            <a:r>
              <a:rPr lang="en-US" dirty="0"/>
              <a:t>Recoverability</a:t>
            </a:r>
          </a:p>
          <a:p>
            <a:pPr lvl="1"/>
            <a:r>
              <a:rPr lang="en-US" dirty="0"/>
              <a:t>Software can restart and function </a:t>
            </a:r>
          </a:p>
          <a:p>
            <a:pPr lvl="1"/>
            <a:r>
              <a:rPr lang="en-US" dirty="0"/>
              <a:t>May involve restoring state</a:t>
            </a:r>
          </a:p>
        </p:txBody>
      </p:sp>
    </p:spTree>
    <p:extLst>
      <p:ext uri="{BB962C8B-B14F-4D97-AF65-F5344CB8AC3E}">
        <p14:creationId xmlns:p14="http://schemas.microsoft.com/office/powerpoint/2010/main" val="201369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Reduced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Replication across geographies </a:t>
            </a:r>
          </a:p>
          <a:p>
            <a:r>
              <a:rPr lang="en-US" dirty="0"/>
              <a:t>Cache data close to where it is needed</a:t>
            </a:r>
          </a:p>
          <a:p>
            <a:r>
              <a:rPr lang="en-US" dirty="0"/>
              <a:t>Example: Akamai 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A6916745-7C14-8D43-BB3E-3B3B21286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695252"/>
            <a:ext cx="4241800" cy="3388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B08C7F-7628-374F-B5B4-2F93DEC86837}"/>
              </a:ext>
            </a:extLst>
          </p:cNvPr>
          <p:cNvSpPr/>
          <p:nvPr/>
        </p:nvSpPr>
        <p:spPr>
          <a:xfrm>
            <a:off x="4572000" y="616672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By Kim Meyrick - http://</a:t>
            </a:r>
            <a:r>
              <a:rPr lang="en-US" sz="900" dirty="0" err="1"/>
              <a:t>en.wikipedia.org</a:t>
            </a:r>
            <a:r>
              <a:rPr lang="en-US" sz="900" dirty="0"/>
              <a:t>/wiki/</a:t>
            </a:r>
            <a:r>
              <a:rPr lang="en-US" sz="900" dirty="0" err="1"/>
              <a:t>Image:Akamaiprocess.png</a:t>
            </a:r>
            <a:r>
              <a:rPr lang="en-US" sz="900" dirty="0"/>
              <a:t>, CC BY 3.0, https://</a:t>
            </a:r>
            <a:r>
              <a:rPr lang="en-US" sz="900" dirty="0" err="1"/>
              <a:t>commons.wikimedia.org</a:t>
            </a:r>
            <a:r>
              <a:rPr lang="en-US" sz="900" dirty="0"/>
              <a:t>/w/</a:t>
            </a:r>
            <a:r>
              <a:rPr lang="en-US" sz="900" dirty="0" err="1"/>
              <a:t>index.php?curid</a:t>
            </a:r>
            <a:r>
              <a:rPr lang="en-US" sz="900" dirty="0"/>
              <a:t>=2693411</a:t>
            </a:r>
          </a:p>
        </p:txBody>
      </p:sp>
    </p:spTree>
    <p:extLst>
      <p:ext uri="{BB962C8B-B14F-4D97-AF65-F5344CB8AC3E}">
        <p14:creationId xmlns:p14="http://schemas.microsoft.com/office/powerpoint/2010/main" val="369410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Delegated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Offload responsibility</a:t>
            </a:r>
          </a:p>
          <a:p>
            <a:pPr lvl="1"/>
            <a:r>
              <a:rPr lang="da-DK" dirty="0"/>
              <a:t>Let someone else manage systems</a:t>
            </a:r>
          </a:p>
          <a:p>
            <a:pPr lvl="1"/>
            <a:r>
              <a:rPr lang="en-US" dirty="0"/>
              <a:t>Use third-party services</a:t>
            </a:r>
          </a:p>
          <a:p>
            <a:r>
              <a:rPr lang="en-US" dirty="0"/>
              <a:t>Modularize services on different systems </a:t>
            </a:r>
          </a:p>
          <a:p>
            <a:pPr lvl="1"/>
            <a:r>
              <a:rPr lang="en-US" dirty="0"/>
              <a:t>Dedicated systems for storage, email, etc.</a:t>
            </a:r>
          </a:p>
          <a:p>
            <a:r>
              <a:rPr lang="en-US" dirty="0"/>
              <a:t>Cloud, network attached storage (NAS)</a:t>
            </a:r>
          </a:p>
        </p:txBody>
      </p:sp>
    </p:spTree>
    <p:extLst>
      <p:ext uri="{BB962C8B-B14F-4D97-AF65-F5344CB8AC3E}">
        <p14:creationId xmlns:p14="http://schemas.microsoft.com/office/powerpoint/2010/main" val="301501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Content!</a:t>
            </a:r>
          </a:p>
          <a:p>
            <a:r>
              <a:rPr lang="en-US" dirty="0"/>
              <a:t>Collaborative work &amp; play</a:t>
            </a:r>
          </a:p>
          <a:p>
            <a:r>
              <a:rPr lang="en-US" dirty="0"/>
              <a:t>Social connectivity</a:t>
            </a:r>
          </a:p>
          <a:p>
            <a:r>
              <a:rPr lang="en-US" dirty="0"/>
              <a:t>Commerce</a:t>
            </a:r>
          </a:p>
          <a:p>
            <a:r>
              <a:rPr lang="en-US" dirty="0"/>
              <a:t>News &amp; media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73" y="4156075"/>
            <a:ext cx="6430453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46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Mobility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3962400" cy="4068763"/>
          </a:xfrm>
        </p:spPr>
        <p:txBody>
          <a:bodyPr>
            <a:normAutofit/>
          </a:bodyPr>
          <a:lstStyle/>
          <a:p>
            <a:r>
              <a:rPr lang="en-US" dirty="0"/>
              <a:t>Over 6 billion smartphones </a:t>
            </a:r>
          </a:p>
          <a:p>
            <a:r>
              <a:rPr lang="en-US" dirty="0"/>
              <a:t>Remote sensors</a:t>
            </a:r>
          </a:p>
          <a:p>
            <a:pPr lvl="1"/>
            <a:r>
              <a:rPr lang="en-US" dirty="0"/>
              <a:t>Cars</a:t>
            </a:r>
          </a:p>
          <a:p>
            <a:pPr lvl="1"/>
            <a:r>
              <a:rPr lang="en-US" dirty="0"/>
              <a:t>Traffic cameras </a:t>
            </a:r>
          </a:p>
          <a:p>
            <a:pPr lvl="1"/>
            <a:r>
              <a:rPr lang="en-US" dirty="0"/>
              <a:t>Toll collection</a:t>
            </a:r>
          </a:p>
          <a:p>
            <a:pPr lvl="1"/>
            <a:r>
              <a:rPr lang="en-US" dirty="0"/>
              <a:t>Shipping containers</a:t>
            </a:r>
          </a:p>
          <a:p>
            <a:pPr lvl="1"/>
            <a:r>
              <a:rPr lang="en-US" dirty="0"/>
              <a:t>Soda machines</a:t>
            </a:r>
          </a:p>
          <a:p>
            <a:r>
              <a:rPr lang="en-US" dirty="0" err="1"/>
              <a:t>IoT</a:t>
            </a:r>
            <a:r>
              <a:rPr lang="en-US" dirty="0"/>
              <a:t> = Internet of Things</a:t>
            </a:r>
          </a:p>
        </p:txBody>
      </p:sp>
      <p:pic>
        <p:nvPicPr>
          <p:cNvPr id="2050" name="Picture 2" descr="Image result for number of smartphone users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057400"/>
            <a:ext cx="4648200" cy="345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01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want…</a:t>
            </a:r>
            <a:br>
              <a:rPr lang="en-US" dirty="0"/>
            </a:br>
            <a:r>
              <a:rPr lang="en-US" dirty="0"/>
              <a:t>Incremental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Scale also implies </a:t>
            </a:r>
            <a:r>
              <a:rPr lang="en-US" dirty="0">
                <a:solidFill>
                  <a:srgbClr val="C00000"/>
                </a:solidFill>
              </a:rPr>
              <a:t>cost</a:t>
            </a:r>
            <a:r>
              <a:rPr lang="en-US" dirty="0"/>
              <a:t> </a:t>
            </a:r>
          </a:p>
          <a:p>
            <a:r>
              <a:rPr lang="en-US" dirty="0"/>
              <a:t>Facebook</a:t>
            </a:r>
          </a:p>
          <a:p>
            <a:pPr lvl="1"/>
            <a:r>
              <a:rPr lang="en-US" dirty="0"/>
              <a:t>Started on one rented server at $85/month</a:t>
            </a:r>
          </a:p>
          <a:p>
            <a:r>
              <a:rPr lang="en-US" dirty="0"/>
              <a:t>Google</a:t>
            </a:r>
          </a:p>
          <a:p>
            <a:pPr lvl="1"/>
            <a:r>
              <a:rPr lang="en-US" dirty="0"/>
              <a:t>Original storage in 1996: 10 4GB drives = 40 GB total</a:t>
            </a:r>
          </a:p>
          <a:p>
            <a:pPr lvl="1"/>
            <a:r>
              <a:rPr lang="en-US" dirty="0"/>
              <a:t>1998 hardware</a:t>
            </a:r>
          </a:p>
          <a:p>
            <a:pPr lvl="2"/>
            <a:r>
              <a:rPr lang="pt-BR" dirty="0"/>
              <a:t>Sun Ultra II, 2 Intel dual-Pentium II servers, quad-processor IBM RS/6000</a:t>
            </a:r>
          </a:p>
          <a:p>
            <a:pPr lvl="2"/>
            <a:r>
              <a:rPr lang="en-US" dirty="0"/>
              <a:t>~ 475 GB of disks</a:t>
            </a:r>
          </a:p>
        </p:txBody>
      </p:sp>
    </p:spTree>
    <p:extLst>
      <p:ext uri="{BB962C8B-B14F-4D97-AF65-F5344CB8AC3E}">
        <p14:creationId xmlns:p14="http://schemas.microsoft.com/office/powerpoint/2010/main" val="3133135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bject, chessman, indoor, mirror&#10;&#10;Description automatically generated">
            <a:extLst>
              <a:ext uri="{FF2B5EF4-FFF2-40B4-BE49-F238E27FC236}">
                <a16:creationId xmlns:a16="http://schemas.microsoft.com/office/drawing/2014/main" id="{AB7C6A24-DD42-4C87-876E-3C0A7A1DF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334"/>
          <a:stretch/>
        </p:blipFill>
        <p:spPr>
          <a:xfrm>
            <a:off x="838200" y="0"/>
            <a:ext cx="8305800" cy="62293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More to come…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33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1215</Words>
  <Application>Microsoft Macintosh PowerPoint</Application>
  <PresentationFormat>On-screen Show (4:3)</PresentationFormat>
  <Paragraphs>217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Distributed Systems</vt:lpstr>
      <vt:lpstr>Technology Advances Enable and Motivate Distributed Systems</vt:lpstr>
      <vt:lpstr>Technology Advances</vt:lpstr>
      <vt:lpstr>Networking:  Ethernet − 1973, 1976</vt:lpstr>
      <vt:lpstr>Network Architecture</vt:lpstr>
      <vt:lpstr>Network Connectivity</vt:lpstr>
      <vt:lpstr>Metcalfe’s Law</vt:lpstr>
      <vt:lpstr>Computing Power</vt:lpstr>
      <vt:lpstr>Computer Power (Processors)</vt:lpstr>
      <vt:lpstr>Network Content: Music</vt:lpstr>
      <vt:lpstr>Network Content: Video</vt:lpstr>
      <vt:lpstr>Network Protocols</vt:lpstr>
      <vt:lpstr>Why build distributed systems?</vt:lpstr>
      <vt:lpstr>What is a Distributed System?</vt:lpstr>
      <vt:lpstr>Architecture Evolution</vt:lpstr>
      <vt:lpstr>We Want …</vt:lpstr>
      <vt:lpstr>Scale: Increased Performance</vt:lpstr>
      <vt:lpstr>PowerPoint Presentation</vt:lpstr>
      <vt:lpstr>We want… Scale</vt:lpstr>
      <vt:lpstr>How to get massive performance?</vt:lpstr>
      <vt:lpstr>We want… High Availability</vt:lpstr>
      <vt:lpstr>We want… Fault Tolerance</vt:lpstr>
      <vt:lpstr>We want… Reduced Latency</vt:lpstr>
      <vt:lpstr>We want… Delegated Operations </vt:lpstr>
      <vt:lpstr>We want… Collaboration</vt:lpstr>
      <vt:lpstr>We want… Mobility</vt:lpstr>
      <vt:lpstr>We want… Incremental cost</vt:lpstr>
      <vt:lpstr>More to come…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</dc:title>
  <dc:creator>Kevin Lundeen</dc:creator>
  <cp:lastModifiedBy>Kevin Lundeen</cp:lastModifiedBy>
  <cp:revision>6</cp:revision>
  <dcterms:created xsi:type="dcterms:W3CDTF">2019-09-26T19:43:38Z</dcterms:created>
  <dcterms:modified xsi:type="dcterms:W3CDTF">2024-09-26T21:42:37Z</dcterms:modified>
</cp:coreProperties>
</file>