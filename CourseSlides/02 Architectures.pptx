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notesMasterIdLst>
    <p:notesMasterId r:id="rId50"/>
  </p:notesMasterIdLst>
  <p:sldIdLst>
    <p:sldId id="334" r:id="rId2"/>
    <p:sldId id="335" r:id="rId3"/>
    <p:sldId id="363" r:id="rId4"/>
    <p:sldId id="337" r:id="rId5"/>
    <p:sldId id="338" r:id="rId6"/>
    <p:sldId id="339" r:id="rId7"/>
    <p:sldId id="294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9" r:id="rId16"/>
    <p:sldId id="347" r:id="rId17"/>
    <p:sldId id="324" r:id="rId18"/>
    <p:sldId id="325" r:id="rId19"/>
    <p:sldId id="326" r:id="rId20"/>
    <p:sldId id="327" r:id="rId21"/>
    <p:sldId id="328" r:id="rId22"/>
    <p:sldId id="329" r:id="rId23"/>
    <p:sldId id="330" r:id="rId24"/>
    <p:sldId id="332" r:id="rId25"/>
    <p:sldId id="350" r:id="rId26"/>
    <p:sldId id="351" r:id="rId27"/>
    <p:sldId id="355" r:id="rId28"/>
    <p:sldId id="352" r:id="rId29"/>
    <p:sldId id="301" r:id="rId30"/>
    <p:sldId id="302" r:id="rId31"/>
    <p:sldId id="303" r:id="rId32"/>
    <p:sldId id="304" r:id="rId33"/>
    <p:sldId id="353" r:id="rId34"/>
    <p:sldId id="299" r:id="rId35"/>
    <p:sldId id="300" r:id="rId36"/>
    <p:sldId id="356" r:id="rId37"/>
    <p:sldId id="357" r:id="rId38"/>
    <p:sldId id="354" r:id="rId39"/>
    <p:sldId id="305" r:id="rId40"/>
    <p:sldId id="358" r:id="rId41"/>
    <p:sldId id="359" r:id="rId42"/>
    <p:sldId id="360" r:id="rId43"/>
    <p:sldId id="306" r:id="rId44"/>
    <p:sldId id="361" r:id="rId45"/>
    <p:sldId id="362" r:id="rId46"/>
    <p:sldId id="307" r:id="rId47"/>
    <p:sldId id="308" r:id="rId48"/>
    <p:sldId id="309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17" d="100"/>
          <a:sy n="117" d="100"/>
        </p:scale>
        <p:origin x="1928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ndeen, Kevin" userId="f41f08b3-201c-4bb1-b063-613ae9b71acc" providerId="ADAL" clId="{DF4DCDCA-A727-624E-BFF9-076E635CB4D7}"/>
    <pc:docChg chg="modSld">
      <pc:chgData name="Lundeen, Kevin" userId="f41f08b3-201c-4bb1-b063-613ae9b71acc" providerId="ADAL" clId="{DF4DCDCA-A727-624E-BFF9-076E635CB4D7}" dt="2022-09-26T23:53:14.810" v="1" actId="20577"/>
      <pc:docMkLst>
        <pc:docMk/>
      </pc:docMkLst>
      <pc:sldChg chg="modSp mod">
        <pc:chgData name="Lundeen, Kevin" userId="f41f08b3-201c-4bb1-b063-613ae9b71acc" providerId="ADAL" clId="{DF4DCDCA-A727-624E-BFF9-076E635CB4D7}" dt="2022-09-26T23:53:14.810" v="1" actId="20577"/>
        <pc:sldMkLst>
          <pc:docMk/>
          <pc:sldMk cId="269456005" sldId="334"/>
        </pc:sldMkLst>
        <pc:spChg chg="mod">
          <ac:chgData name="Lundeen, Kevin" userId="f41f08b3-201c-4bb1-b063-613ae9b71acc" providerId="ADAL" clId="{DF4DCDCA-A727-624E-BFF9-076E635CB4D7}" dt="2022-09-26T23:53:14.810" v="1" actId="20577"/>
          <ac:spMkLst>
            <pc:docMk/>
            <pc:sldMk cId="269456005" sldId="334"/>
            <ac:spMk id="3" creationId="{52B60FF8-14AE-6741-8C87-E333D1B97E12}"/>
          </ac:spMkLst>
        </pc:spChg>
      </pc:sldChg>
    </pc:docChg>
  </pc:docChgLst>
  <pc:docChgLst>
    <pc:chgData name="Lundeen, Kevin" userId="f41f08b3-201c-4bb1-b063-613ae9b71acc" providerId="ADAL" clId="{9FC61DCD-924E-FA4C-8AE8-0E28A50F89FC}"/>
    <pc:docChg chg="modSld">
      <pc:chgData name="Lundeen, Kevin" userId="f41f08b3-201c-4bb1-b063-613ae9b71acc" providerId="ADAL" clId="{9FC61DCD-924E-FA4C-8AE8-0E28A50F89FC}" dt="2020-09-15T22:32:13.488" v="5" actId="1076"/>
      <pc:docMkLst>
        <pc:docMk/>
      </pc:docMkLst>
      <pc:sldChg chg="modSp">
        <pc:chgData name="Lundeen, Kevin" userId="f41f08b3-201c-4bb1-b063-613ae9b71acc" providerId="ADAL" clId="{9FC61DCD-924E-FA4C-8AE8-0E28A50F89FC}" dt="2020-09-15T22:16:52.516" v="4" actId="20577"/>
        <pc:sldMkLst>
          <pc:docMk/>
          <pc:sldMk cId="1588443770" sldId="325"/>
        </pc:sldMkLst>
        <pc:spChg chg="mod">
          <ac:chgData name="Lundeen, Kevin" userId="f41f08b3-201c-4bb1-b063-613ae9b71acc" providerId="ADAL" clId="{9FC61DCD-924E-FA4C-8AE8-0E28A50F89FC}" dt="2020-09-15T22:16:52.516" v="4" actId="20577"/>
          <ac:spMkLst>
            <pc:docMk/>
            <pc:sldMk cId="1588443770" sldId="325"/>
            <ac:spMk id="3" creationId="{00000000-0000-0000-0000-000000000000}"/>
          </ac:spMkLst>
        </pc:spChg>
      </pc:sldChg>
      <pc:sldChg chg="modSp">
        <pc:chgData name="Lundeen, Kevin" userId="f41f08b3-201c-4bb1-b063-613ae9b71acc" providerId="ADAL" clId="{9FC61DCD-924E-FA4C-8AE8-0E28A50F89FC}" dt="2020-09-15T22:32:13.488" v="5" actId="1076"/>
        <pc:sldMkLst>
          <pc:docMk/>
          <pc:sldMk cId="4127815426" sldId="350"/>
        </pc:sldMkLst>
        <pc:picChg chg="mod">
          <ac:chgData name="Lundeen, Kevin" userId="f41f08b3-201c-4bb1-b063-613ae9b71acc" providerId="ADAL" clId="{9FC61DCD-924E-FA4C-8AE8-0E28A50F89FC}" dt="2020-09-15T22:32:13.488" v="5" actId="1076"/>
          <ac:picMkLst>
            <pc:docMk/>
            <pc:sldMk cId="4127815426" sldId="350"/>
            <ac:picMk id="6" creationId="{8FB86CFC-3F17-3946-B972-9D504FAAB56F}"/>
          </ac:picMkLst>
        </pc:picChg>
      </pc:sldChg>
    </pc:docChg>
  </pc:docChgLst>
  <pc:docChgLst>
    <pc:chgData name="Lundeen, Kevin" userId="f41f08b3-201c-4bb1-b063-613ae9b71acc" providerId="ADAL" clId="{198FADD3-7D09-1C4D-B953-E85B59C7F639}"/>
    <pc:docChg chg="undo redo custSel modSld">
      <pc:chgData name="Lundeen, Kevin" userId="f41f08b3-201c-4bb1-b063-613ae9b71acc" providerId="ADAL" clId="{198FADD3-7D09-1C4D-B953-E85B59C7F639}" dt="2020-09-16T18:49:50.625" v="597"/>
      <pc:docMkLst>
        <pc:docMk/>
      </pc:docMkLst>
      <pc:sldChg chg="addSp modSp mod addAnim delAnim modAnim">
        <pc:chgData name="Lundeen, Kevin" userId="f41f08b3-201c-4bb1-b063-613ae9b71acc" providerId="ADAL" clId="{198FADD3-7D09-1C4D-B953-E85B59C7F639}" dt="2020-09-16T18:48:59.709" v="594"/>
        <pc:sldMkLst>
          <pc:docMk/>
          <pc:sldMk cId="1064317631" sldId="294"/>
        </pc:sldMkLst>
        <pc:spChg chg="add mod">
          <ac:chgData name="Lundeen, Kevin" userId="f41f08b3-201c-4bb1-b063-613ae9b71acc" providerId="ADAL" clId="{198FADD3-7D09-1C4D-B953-E85B59C7F639}" dt="2020-09-14T20:25:12.764" v="575" actId="404"/>
          <ac:spMkLst>
            <pc:docMk/>
            <pc:sldMk cId="1064317631" sldId="294"/>
            <ac:spMk id="4" creationId="{6DC912D3-AE30-3E4B-B89D-3983FA17AA84}"/>
          </ac:spMkLst>
        </pc:spChg>
        <pc:graphicFrameChg chg="modGraphic">
          <ac:chgData name="Lundeen, Kevin" userId="f41f08b3-201c-4bb1-b063-613ae9b71acc" providerId="ADAL" clId="{198FADD3-7D09-1C4D-B953-E85B59C7F639}" dt="2020-09-14T20:09:26.494" v="515" actId="20577"/>
          <ac:graphicFrameMkLst>
            <pc:docMk/>
            <pc:sldMk cId="1064317631" sldId="294"/>
            <ac:graphicFrameMk id="7" creationId="{6ADC275A-5573-DD4F-976E-A4F9A9EB1D1C}"/>
          </ac:graphicFrameMkLst>
        </pc:graphicFrameChg>
      </pc:sldChg>
      <pc:sldChg chg="modSp mod">
        <pc:chgData name="Lundeen, Kevin" userId="f41f08b3-201c-4bb1-b063-613ae9b71acc" providerId="ADAL" clId="{198FADD3-7D09-1C4D-B953-E85B59C7F639}" dt="2020-09-14T20:31:14.085" v="592" actId="20577"/>
        <pc:sldMkLst>
          <pc:docMk/>
          <pc:sldMk cId="56020515" sldId="309"/>
        </pc:sldMkLst>
        <pc:spChg chg="mod">
          <ac:chgData name="Lundeen, Kevin" userId="f41f08b3-201c-4bb1-b063-613ae9b71acc" providerId="ADAL" clId="{198FADD3-7D09-1C4D-B953-E85B59C7F639}" dt="2020-09-14T20:31:14.085" v="592" actId="20577"/>
          <ac:spMkLst>
            <pc:docMk/>
            <pc:sldMk cId="56020515" sldId="309"/>
            <ac:spMk id="2" creationId="{00000000-0000-0000-0000-000000000000}"/>
          </ac:spMkLst>
        </pc:spChg>
      </pc:sldChg>
      <pc:sldChg chg="modSp modAnim">
        <pc:chgData name="Lundeen, Kevin" userId="f41f08b3-201c-4bb1-b063-613ae9b71acc" providerId="ADAL" clId="{198FADD3-7D09-1C4D-B953-E85B59C7F639}" dt="2020-09-14T20:17:50.504" v="524" actId="20577"/>
        <pc:sldMkLst>
          <pc:docMk/>
          <pc:sldMk cId="1688315870" sldId="326"/>
        </pc:sldMkLst>
        <pc:spChg chg="mod">
          <ac:chgData name="Lundeen, Kevin" userId="f41f08b3-201c-4bb1-b063-613ae9b71acc" providerId="ADAL" clId="{198FADD3-7D09-1C4D-B953-E85B59C7F639}" dt="2020-09-14T20:17:50.504" v="524" actId="20577"/>
          <ac:spMkLst>
            <pc:docMk/>
            <pc:sldMk cId="1688315870" sldId="326"/>
            <ac:spMk id="3" creationId="{00000000-0000-0000-0000-000000000000}"/>
          </ac:spMkLst>
        </pc:spChg>
      </pc:sldChg>
      <pc:sldChg chg="modSp mod">
        <pc:chgData name="Lundeen, Kevin" userId="f41f08b3-201c-4bb1-b063-613ae9b71acc" providerId="ADAL" clId="{198FADD3-7D09-1C4D-B953-E85B59C7F639}" dt="2020-09-14T19:58:59.638" v="54" actId="20577"/>
        <pc:sldMkLst>
          <pc:docMk/>
          <pc:sldMk cId="269456005" sldId="334"/>
        </pc:sldMkLst>
        <pc:spChg chg="mod">
          <ac:chgData name="Lundeen, Kevin" userId="f41f08b3-201c-4bb1-b063-613ae9b71acc" providerId="ADAL" clId="{198FADD3-7D09-1C4D-B953-E85B59C7F639}" dt="2020-09-14T19:58:52.853" v="33" actId="20577"/>
          <ac:spMkLst>
            <pc:docMk/>
            <pc:sldMk cId="269456005" sldId="334"/>
            <ac:spMk id="2" creationId="{F1C7814C-87BF-C744-8C79-F2083188C69B}"/>
          </ac:spMkLst>
        </pc:spChg>
        <pc:spChg chg="mod">
          <ac:chgData name="Lundeen, Kevin" userId="f41f08b3-201c-4bb1-b063-613ae9b71acc" providerId="ADAL" clId="{198FADD3-7D09-1C4D-B953-E85B59C7F639}" dt="2020-09-14T19:58:59.638" v="54" actId="20577"/>
          <ac:spMkLst>
            <pc:docMk/>
            <pc:sldMk cId="269456005" sldId="334"/>
            <ac:spMk id="3" creationId="{52B60FF8-14AE-6741-8C87-E333D1B97E12}"/>
          </ac:spMkLst>
        </pc:spChg>
      </pc:sldChg>
      <pc:sldChg chg="modSp">
        <pc:chgData name="Lundeen, Kevin" userId="f41f08b3-201c-4bb1-b063-613ae9b71acc" providerId="ADAL" clId="{198FADD3-7D09-1C4D-B953-E85B59C7F639}" dt="2020-09-16T18:49:50.625" v="597"/>
        <pc:sldMkLst>
          <pc:docMk/>
          <pc:sldMk cId="2433686681" sldId="346"/>
        </pc:sldMkLst>
        <pc:picChg chg="mod">
          <ac:chgData name="Lundeen, Kevin" userId="f41f08b3-201c-4bb1-b063-613ae9b71acc" providerId="ADAL" clId="{198FADD3-7D09-1C4D-B953-E85B59C7F639}" dt="2020-09-16T18:49:50.625" v="597"/>
          <ac:picMkLst>
            <pc:docMk/>
            <pc:sldMk cId="2433686681" sldId="346"/>
            <ac:picMk id="6" creationId="{537B42C5-A923-C54A-A40B-0EB4F56BE049}"/>
          </ac:picMkLst>
        </pc:picChg>
      </pc:sldChg>
      <pc:sldChg chg="modSp">
        <pc:chgData name="Lundeen, Kevin" userId="f41f08b3-201c-4bb1-b063-613ae9b71acc" providerId="ADAL" clId="{198FADD3-7D09-1C4D-B953-E85B59C7F639}" dt="2020-09-14T20:15:15.907" v="518" actId="20577"/>
        <pc:sldMkLst>
          <pc:docMk/>
          <pc:sldMk cId="4060307812" sldId="349"/>
        </pc:sldMkLst>
        <pc:spChg chg="mod">
          <ac:chgData name="Lundeen, Kevin" userId="f41f08b3-201c-4bb1-b063-613ae9b71acc" providerId="ADAL" clId="{198FADD3-7D09-1C4D-B953-E85B59C7F639}" dt="2020-09-14T20:15:15.907" v="518" actId="20577"/>
          <ac:spMkLst>
            <pc:docMk/>
            <pc:sldMk cId="4060307812" sldId="349"/>
            <ac:spMk id="3" creationId="{EB02035B-3D0A-3046-8C9A-F5F81F7D545F}"/>
          </ac:spMkLst>
        </pc:spChg>
      </pc:sldChg>
    </pc:docChg>
  </pc:docChgLst>
  <pc:docChgLst>
    <pc:chgData name="Kevin Lundeen" userId="f41f08b3-201c-4bb1-b063-613ae9b71acc" providerId="ADAL" clId="{3BFC0C1B-505D-7343-8E3A-59B1600E0494}"/>
    <pc:docChg chg="modSld">
      <pc:chgData name="Kevin Lundeen" userId="f41f08b3-201c-4bb1-b063-613ae9b71acc" providerId="ADAL" clId="{3BFC0C1B-505D-7343-8E3A-59B1600E0494}" dt="2023-09-26T22:17:02.916" v="1" actId="20577"/>
      <pc:docMkLst>
        <pc:docMk/>
      </pc:docMkLst>
      <pc:sldChg chg="modSp mod">
        <pc:chgData name="Kevin Lundeen" userId="f41f08b3-201c-4bb1-b063-613ae9b71acc" providerId="ADAL" clId="{3BFC0C1B-505D-7343-8E3A-59B1600E0494}" dt="2023-09-26T22:17:02.916" v="1" actId="20577"/>
        <pc:sldMkLst>
          <pc:docMk/>
          <pc:sldMk cId="269456005" sldId="334"/>
        </pc:sldMkLst>
        <pc:spChg chg="mod">
          <ac:chgData name="Kevin Lundeen" userId="f41f08b3-201c-4bb1-b063-613ae9b71acc" providerId="ADAL" clId="{3BFC0C1B-505D-7343-8E3A-59B1600E0494}" dt="2023-09-26T22:17:02.916" v="1" actId="20577"/>
          <ac:spMkLst>
            <pc:docMk/>
            <pc:sldMk cId="269456005" sldId="334"/>
            <ac:spMk id="3" creationId="{52B60FF8-14AE-6741-8C87-E333D1B97E12}"/>
          </ac:spMkLst>
        </pc:spChg>
      </pc:sldChg>
    </pc:docChg>
  </pc:docChgLst>
  <pc:docChgLst>
    <pc:chgData name="Lundeen, Kevin" userId="f41f08b3-201c-4bb1-b063-613ae9b71acc" providerId="ADAL" clId="{6C1F5071-9984-8147-B178-590FE42DDFA0}"/>
    <pc:docChg chg="custSel addSld modSld">
      <pc:chgData name="Lundeen, Kevin" userId="f41f08b3-201c-4bb1-b063-613ae9b71acc" providerId="ADAL" clId="{6C1F5071-9984-8147-B178-590FE42DDFA0}" dt="2021-09-28T17:30:47.490" v="256" actId="114"/>
      <pc:docMkLst>
        <pc:docMk/>
      </pc:docMkLst>
      <pc:sldChg chg="modSp mod">
        <pc:chgData name="Lundeen, Kevin" userId="f41f08b3-201c-4bb1-b063-613ae9b71acc" providerId="ADAL" clId="{6C1F5071-9984-8147-B178-590FE42DDFA0}" dt="2021-09-21T23:38:40.686" v="1" actId="20577"/>
        <pc:sldMkLst>
          <pc:docMk/>
          <pc:sldMk cId="269456005" sldId="334"/>
        </pc:sldMkLst>
        <pc:spChg chg="mod">
          <ac:chgData name="Lundeen, Kevin" userId="f41f08b3-201c-4bb1-b063-613ae9b71acc" providerId="ADAL" clId="{6C1F5071-9984-8147-B178-590FE42DDFA0}" dt="2021-09-21T23:38:40.686" v="1" actId="20577"/>
          <ac:spMkLst>
            <pc:docMk/>
            <pc:sldMk cId="269456005" sldId="334"/>
            <ac:spMk id="3" creationId="{52B60FF8-14AE-6741-8C87-E333D1B97E12}"/>
          </ac:spMkLst>
        </pc:spChg>
      </pc:sldChg>
      <pc:sldChg chg="modSp">
        <pc:chgData name="Lundeen, Kevin" userId="f41f08b3-201c-4bb1-b063-613ae9b71acc" providerId="ADAL" clId="{6C1F5071-9984-8147-B178-590FE42DDFA0}" dt="2021-09-28T17:30:47.490" v="256" actId="114"/>
        <pc:sldMkLst>
          <pc:docMk/>
          <pc:sldMk cId="62823929" sldId="359"/>
        </pc:sldMkLst>
        <pc:spChg chg="mod">
          <ac:chgData name="Lundeen, Kevin" userId="f41f08b3-201c-4bb1-b063-613ae9b71acc" providerId="ADAL" clId="{6C1F5071-9984-8147-B178-590FE42DDFA0}" dt="2021-09-28T17:30:47.490" v="256" actId="114"/>
          <ac:spMkLst>
            <pc:docMk/>
            <pc:sldMk cId="62823929" sldId="359"/>
            <ac:spMk id="3" creationId="{1A82B0B3-DAF9-174F-8769-AB630D50DC23}"/>
          </ac:spMkLst>
        </pc:spChg>
      </pc:sldChg>
      <pc:sldChg chg="addSp delSp modSp new mod modClrScheme chgLayout">
        <pc:chgData name="Lundeen, Kevin" userId="f41f08b3-201c-4bb1-b063-613ae9b71acc" providerId="ADAL" clId="{6C1F5071-9984-8147-B178-590FE42DDFA0}" dt="2021-09-28T17:11:57.118" v="244" actId="114"/>
        <pc:sldMkLst>
          <pc:docMk/>
          <pc:sldMk cId="2986406706" sldId="363"/>
        </pc:sldMkLst>
        <pc:spChg chg="del mod ord">
          <ac:chgData name="Lundeen, Kevin" userId="f41f08b3-201c-4bb1-b063-613ae9b71acc" providerId="ADAL" clId="{6C1F5071-9984-8147-B178-590FE42DDFA0}" dt="2021-09-28T17:08:34.459" v="3" actId="700"/>
          <ac:spMkLst>
            <pc:docMk/>
            <pc:sldMk cId="2986406706" sldId="363"/>
            <ac:spMk id="2" creationId="{2C0A0578-E463-4447-AA9F-D7C8798D51B5}"/>
          </ac:spMkLst>
        </pc:spChg>
        <pc:spChg chg="del">
          <ac:chgData name="Lundeen, Kevin" userId="f41f08b3-201c-4bb1-b063-613ae9b71acc" providerId="ADAL" clId="{6C1F5071-9984-8147-B178-590FE42DDFA0}" dt="2021-09-28T17:08:34.459" v="3" actId="700"/>
          <ac:spMkLst>
            <pc:docMk/>
            <pc:sldMk cId="2986406706" sldId="363"/>
            <ac:spMk id="3" creationId="{A1E8CAB1-FBB7-6440-B8DE-39310D4A14C8}"/>
          </ac:spMkLst>
        </pc:spChg>
        <pc:spChg chg="add mod ord">
          <ac:chgData name="Lundeen, Kevin" userId="f41f08b3-201c-4bb1-b063-613ae9b71acc" providerId="ADAL" clId="{6C1F5071-9984-8147-B178-590FE42DDFA0}" dt="2021-09-28T17:11:57.118" v="244" actId="114"/>
          <ac:spMkLst>
            <pc:docMk/>
            <pc:sldMk cId="2986406706" sldId="363"/>
            <ac:spMk id="4" creationId="{14E3AA91-50B7-EE48-95F3-EE9FADC63E90}"/>
          </ac:spMkLst>
        </pc:spChg>
        <pc:spChg chg="add mod ord">
          <ac:chgData name="Lundeen, Kevin" userId="f41f08b3-201c-4bb1-b063-613ae9b71acc" providerId="ADAL" clId="{6C1F5071-9984-8147-B178-590FE42DDFA0}" dt="2021-09-28T17:09:52.172" v="223" actId="20577"/>
          <ac:spMkLst>
            <pc:docMk/>
            <pc:sldMk cId="2986406706" sldId="363"/>
            <ac:spMk id="5" creationId="{EA165323-5E89-7A4F-AB75-E4746B741C55}"/>
          </ac:spMkLst>
        </pc:spChg>
        <pc:picChg chg="add mod">
          <ac:chgData name="Lundeen, Kevin" userId="f41f08b3-201c-4bb1-b063-613ae9b71acc" providerId="ADAL" clId="{6C1F5071-9984-8147-B178-590FE42DDFA0}" dt="2021-09-28T17:11:04.220" v="230" actId="1582"/>
          <ac:picMkLst>
            <pc:docMk/>
            <pc:sldMk cId="2986406706" sldId="363"/>
            <ac:picMk id="6" creationId="{950921F6-7CD9-A241-8E42-2AD9C758E2D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0583A-12EA-486A-A884-516D3CA299A2}" type="datetimeFigureOut">
              <a:rPr lang="en-US" smtClean="0"/>
              <a:t>10/1/24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37616-A5EF-4910-84DD-04C521447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AFEE7-433D-794B-9484-178E30624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C1849-16E5-824D-816A-1143CD185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17200-57FB-E241-9F2E-F799380E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93267-0B28-E34A-975B-4FC5818E6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27C49-CDCB-4C4E-88D3-E9C2FF8A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95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E80F-C613-2E44-B038-0688AC8E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7213B-42FC-B242-82F9-2BF3B235B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27387-6CED-8042-BD41-0BC102E0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BBD1C-04F5-2845-9507-99D19BF1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7B5F5-293B-5D49-9671-FDD773AD3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7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D69D-F70E-0148-B2BA-1DFA6A86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EB40C-667C-BC4A-89BF-FA76E04AC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4CD10-A180-B949-AB81-8AC818C2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5BA4C-101A-A446-8147-95879A86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A5C33-BF1A-4848-A925-30C44C47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0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199D-4319-214C-B0D8-8192E07C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665C6-1FF6-2742-82FF-910342A3F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42D5A-AC38-5E4E-8A18-A01416726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36A3A-DFEB-2448-B34C-4074CD69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1DD5D-1B2C-F44B-ACBA-9BE591D5E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17E13-7DE1-904F-9CF1-8864368BD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84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8635-9F98-9F4F-8EC1-657E3012D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1FFED-BEB9-D946-8AA2-836CA8EE7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58A0B-0AE0-764C-8975-1CC340D91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0041E-D2EE-EC40-B7F4-AE33495D2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9218B-67E2-474B-9B21-C1158D436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E8F2EB-8D6E-4B40-9E77-C8C13DE30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8906CA-ADB3-D544-AB2F-FCB4C018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D6AED-B856-8E4C-9D86-E637E982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9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0AEB-5498-CB4B-BC4E-B72DEAAE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9B5CB-0481-0348-AD69-589E45EF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55DE6-22CD-A54F-BC8F-8499B709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EA196-A653-4445-B811-5803697D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52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CE8FE-0CB3-9247-A4E7-D4754947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CBA9D-A85D-9E40-8FE4-C93068EB1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3B12A-7AF4-1343-A8AF-50571D08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5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4DD8-93D9-D741-AB70-F5FB5656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BD1FB-70E1-3448-BB9A-D252A92A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1A54F-BFBA-3149-9AA6-2A92495EC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2F96B-CC14-604F-957F-755206D9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12D60-ACD4-4B43-9FED-14ABB369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816AE-F982-034F-9229-39371C91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EDC6-7327-7A4E-B35F-4C0A01BCB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4A3AA-427A-D348-9ABA-D24E6D31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CF812-357B-8941-93E5-BD21982E1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87C3C-E9DC-D54A-BE2B-22CBFBF3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6497F-FDD0-EB4C-86FE-B38F21B4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396FC-842A-8D4E-A9C4-406AD711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9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63FF-E40B-3445-AE3D-D10AE916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F9D13-621D-6245-A4A8-E8CC82EB3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BE391-A425-E54C-A721-0426B8D9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8BCD7-8572-F346-88C3-22008930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779CE-23CF-9843-B8CA-D87ACECB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3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C23A27-BACF-364E-BF5C-D03415DD0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D0F49-F222-8141-9030-9D08AFEDF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D9CD-EF97-8D4E-B901-B5B03AE64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DFE9-FD1A-954B-8759-046407E0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52FA-DAB3-5141-97D5-8B964F58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9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D7A9C-8918-A740-8018-EF071A29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7CE27-6B72-BC48-BB06-88D5182EA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A09D8-0295-BD43-A6FC-7699724D0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67297-5DC6-AF41-82D9-D305CB62C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BB349-CDE9-8548-8D0C-022975C7D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0EB187-900F-4AF5-813B-101456D9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EC78C92D-5F29-544D-93CF-4ECAA6BCC5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" r="3641" b="-2"/>
          <a:stretch/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C7814C-87BF-C744-8C79-F2083188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90511" y="1200152"/>
            <a:ext cx="5172879" cy="4457696"/>
          </a:xfrm>
        </p:spPr>
        <p:txBody>
          <a:bodyPr anchor="ctr">
            <a:normAutofit/>
          </a:bodyPr>
          <a:lstStyle/>
          <a:p>
            <a:pPr algn="l"/>
            <a:r>
              <a:rPr lang="en-US" sz="7000">
                <a:solidFill>
                  <a:srgbClr val="FFFFFF"/>
                </a:solidFill>
              </a:rPr>
              <a:t>Architectures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60FF8-14AE-6741-8C87-E333D1B97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472" y="1200152"/>
            <a:ext cx="2112401" cy="4457696"/>
          </a:xfrm>
        </p:spPr>
        <p:txBody>
          <a:bodyPr anchor="ctr">
            <a:normAutofit/>
          </a:bodyPr>
          <a:lstStyle/>
          <a:p>
            <a:pPr algn="r"/>
            <a:r>
              <a:rPr lang="en-US" sz="2800" dirty="0">
                <a:solidFill>
                  <a:srgbClr val="FFFFFF"/>
                </a:solidFill>
              </a:rPr>
              <a:t>Distributed Systems</a:t>
            </a:r>
            <a:endParaRPr lang="en-US" sz="2400" dirty="0">
              <a:solidFill>
                <a:srgbClr val="FFFFFF"/>
              </a:solidFill>
            </a:endParaRPr>
          </a:p>
          <a:p>
            <a:pPr algn="r"/>
            <a:r>
              <a:rPr lang="en-US" sz="2000" dirty="0">
                <a:solidFill>
                  <a:srgbClr val="FFFFFF"/>
                </a:solidFill>
              </a:rPr>
              <a:t>CPSC 5520 </a:t>
            </a:r>
            <a:br>
              <a:rPr lang="en-US" sz="2000" dirty="0">
                <a:solidFill>
                  <a:srgbClr val="FFFFFF"/>
                </a:solidFill>
              </a:rPr>
            </a:br>
            <a:r>
              <a:rPr lang="en-US" sz="2000" dirty="0">
                <a:solidFill>
                  <a:srgbClr val="FFFFFF"/>
                </a:solidFill>
              </a:rPr>
              <a:t>Kevin Lundeen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4D17C8-E9C2-48A4-AA36-D7048A6C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1918" y="2286000"/>
            <a:ext cx="0" cy="22860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56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8FB86CFC-3F17-3946-B972-9D504FAAB5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" r="364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882442" y="2714171"/>
            <a:ext cx="4261558" cy="4150119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68580" tIns="34290" rIns="68580" bIns="34290" rtlCol="0" anchor="t">
            <a:normAutofit/>
          </a:bodyPr>
          <a:lstStyle/>
          <a:p>
            <a:pPr algn="ctr">
              <a:spcAft>
                <a:spcPts val="750"/>
              </a:spcAft>
              <a:buClr>
                <a:schemeClr val="tx1"/>
              </a:buClr>
              <a:buSzPct val="100000"/>
            </a:pPr>
            <a:endParaRPr lang="en-US" sz="1200" cap="al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708" y="3734093"/>
            <a:ext cx="3709553" cy="13755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3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Design Considerations in Distributed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8B717-D053-1545-A0D9-653F8944B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7637" y="5243376"/>
            <a:ext cx="3247697" cy="512463"/>
          </a:xfrm>
        </p:spPr>
        <p:txBody>
          <a:bodyPr vert="horz" lIns="91440" tIns="45720" rIns="91440" bIns="45720" numCol="2" rtlCol="0">
            <a:normAutofit/>
          </a:bodyPr>
          <a:lstStyle/>
          <a:p>
            <a:pPr algn="ctr" defTabSz="914400">
              <a:spcBef>
                <a:spcPts val="1000"/>
              </a:spcBef>
            </a:pPr>
            <a:r>
              <a:rPr lang="en-US" sz="17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Criteria</a:t>
            </a:r>
          </a:p>
          <a:p>
            <a:pPr algn="ctr" defTabSz="914400">
              <a:spcBef>
                <a:spcPts val="1000"/>
              </a:spcBef>
            </a:pPr>
            <a:r>
              <a:rPr lang="en-US" sz="1750">
                <a:solidFill>
                  <a:schemeClr val="tx1"/>
                </a:solidFill>
              </a:rPr>
              <a:t>Challenges</a:t>
            </a:r>
            <a:endParaRPr lang="en-US" sz="175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10703" y="5154215"/>
            <a:ext cx="701565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18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E3AA91-50B7-EE48-95F3-EE9FADC6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[Design Criteria vs. Motivation]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165323-5E89-7A4F-AB75-E4746B741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this design considerations topic to the motivations presented in the Overview Lecture (slide 16):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0921F6-7CD9-A241-8E42-2AD9C758E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914" y="2915444"/>
            <a:ext cx="2815772" cy="3439264"/>
          </a:xfrm>
          <a:custGeom>
            <a:avLst/>
            <a:gdLst>
              <a:gd name="connsiteX0" fmla="*/ 0 w 2815772"/>
              <a:gd name="connsiteY0" fmla="*/ 0 h 3439264"/>
              <a:gd name="connsiteX1" fmla="*/ 619470 w 2815772"/>
              <a:gd name="connsiteY1" fmla="*/ 0 h 3439264"/>
              <a:gd name="connsiteX2" fmla="*/ 1210782 w 2815772"/>
              <a:gd name="connsiteY2" fmla="*/ 0 h 3439264"/>
              <a:gd name="connsiteX3" fmla="*/ 1773936 w 2815772"/>
              <a:gd name="connsiteY3" fmla="*/ 0 h 3439264"/>
              <a:gd name="connsiteX4" fmla="*/ 2815772 w 2815772"/>
              <a:gd name="connsiteY4" fmla="*/ 0 h 3439264"/>
              <a:gd name="connsiteX5" fmla="*/ 2815772 w 2815772"/>
              <a:gd name="connsiteY5" fmla="*/ 641996 h 3439264"/>
              <a:gd name="connsiteX6" fmla="*/ 2815772 w 2815772"/>
              <a:gd name="connsiteY6" fmla="*/ 1249599 h 3439264"/>
              <a:gd name="connsiteX7" fmla="*/ 2815772 w 2815772"/>
              <a:gd name="connsiteY7" fmla="*/ 1754025 h 3439264"/>
              <a:gd name="connsiteX8" fmla="*/ 2815772 w 2815772"/>
              <a:gd name="connsiteY8" fmla="*/ 2361628 h 3439264"/>
              <a:gd name="connsiteX9" fmla="*/ 2815772 w 2815772"/>
              <a:gd name="connsiteY9" fmla="*/ 2831661 h 3439264"/>
              <a:gd name="connsiteX10" fmla="*/ 2815772 w 2815772"/>
              <a:gd name="connsiteY10" fmla="*/ 3439264 h 3439264"/>
              <a:gd name="connsiteX11" fmla="*/ 2308933 w 2815772"/>
              <a:gd name="connsiteY11" fmla="*/ 3439264 h 3439264"/>
              <a:gd name="connsiteX12" fmla="*/ 1689463 w 2815772"/>
              <a:gd name="connsiteY12" fmla="*/ 3439264 h 3439264"/>
              <a:gd name="connsiteX13" fmla="*/ 1154467 w 2815772"/>
              <a:gd name="connsiteY13" fmla="*/ 3439264 h 3439264"/>
              <a:gd name="connsiteX14" fmla="*/ 534997 w 2815772"/>
              <a:gd name="connsiteY14" fmla="*/ 3439264 h 3439264"/>
              <a:gd name="connsiteX15" fmla="*/ 0 w 2815772"/>
              <a:gd name="connsiteY15" fmla="*/ 3439264 h 3439264"/>
              <a:gd name="connsiteX16" fmla="*/ 0 w 2815772"/>
              <a:gd name="connsiteY16" fmla="*/ 2969231 h 3439264"/>
              <a:gd name="connsiteX17" fmla="*/ 0 w 2815772"/>
              <a:gd name="connsiteY17" fmla="*/ 2361628 h 3439264"/>
              <a:gd name="connsiteX18" fmla="*/ 0 w 2815772"/>
              <a:gd name="connsiteY18" fmla="*/ 1891595 h 3439264"/>
              <a:gd name="connsiteX19" fmla="*/ 0 w 2815772"/>
              <a:gd name="connsiteY19" fmla="*/ 1421562 h 3439264"/>
              <a:gd name="connsiteX20" fmla="*/ 0 w 2815772"/>
              <a:gd name="connsiteY20" fmla="*/ 779567 h 3439264"/>
              <a:gd name="connsiteX21" fmla="*/ 0 w 2815772"/>
              <a:gd name="connsiteY21" fmla="*/ 0 h 343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2815772" h="3439264" fill="none" extrusionOk="0">
                <a:moveTo>
                  <a:pt x="0" y="0"/>
                </a:moveTo>
                <a:cubicBezTo>
                  <a:pt x="256813" y="-22259"/>
                  <a:pt x="364958" y="65686"/>
                  <a:pt x="619470" y="0"/>
                </a:cubicBezTo>
                <a:cubicBezTo>
                  <a:pt x="873982" y="-65686"/>
                  <a:pt x="933094" y="58516"/>
                  <a:pt x="1210782" y="0"/>
                </a:cubicBezTo>
                <a:cubicBezTo>
                  <a:pt x="1488470" y="-58516"/>
                  <a:pt x="1630165" y="29760"/>
                  <a:pt x="1773936" y="0"/>
                </a:cubicBezTo>
                <a:cubicBezTo>
                  <a:pt x="1917707" y="-29760"/>
                  <a:pt x="2568208" y="21109"/>
                  <a:pt x="2815772" y="0"/>
                </a:cubicBezTo>
                <a:cubicBezTo>
                  <a:pt x="2818678" y="193571"/>
                  <a:pt x="2773344" y="468828"/>
                  <a:pt x="2815772" y="641996"/>
                </a:cubicBezTo>
                <a:cubicBezTo>
                  <a:pt x="2858200" y="815164"/>
                  <a:pt x="2808012" y="1039870"/>
                  <a:pt x="2815772" y="1249599"/>
                </a:cubicBezTo>
                <a:cubicBezTo>
                  <a:pt x="2823532" y="1459328"/>
                  <a:pt x="2789045" y="1575236"/>
                  <a:pt x="2815772" y="1754025"/>
                </a:cubicBezTo>
                <a:cubicBezTo>
                  <a:pt x="2842499" y="1932814"/>
                  <a:pt x="2764163" y="2170651"/>
                  <a:pt x="2815772" y="2361628"/>
                </a:cubicBezTo>
                <a:cubicBezTo>
                  <a:pt x="2867381" y="2552605"/>
                  <a:pt x="2761317" y="2661739"/>
                  <a:pt x="2815772" y="2831661"/>
                </a:cubicBezTo>
                <a:cubicBezTo>
                  <a:pt x="2870227" y="3001583"/>
                  <a:pt x="2750891" y="3176711"/>
                  <a:pt x="2815772" y="3439264"/>
                </a:cubicBezTo>
                <a:cubicBezTo>
                  <a:pt x="2636227" y="3474179"/>
                  <a:pt x="2547805" y="3406995"/>
                  <a:pt x="2308933" y="3439264"/>
                </a:cubicBezTo>
                <a:cubicBezTo>
                  <a:pt x="2070061" y="3471533"/>
                  <a:pt x="1899727" y="3424587"/>
                  <a:pt x="1689463" y="3439264"/>
                </a:cubicBezTo>
                <a:cubicBezTo>
                  <a:pt x="1479199" y="3453941"/>
                  <a:pt x="1341910" y="3404240"/>
                  <a:pt x="1154467" y="3439264"/>
                </a:cubicBezTo>
                <a:cubicBezTo>
                  <a:pt x="967024" y="3474288"/>
                  <a:pt x="672891" y="3427226"/>
                  <a:pt x="534997" y="3439264"/>
                </a:cubicBezTo>
                <a:cubicBezTo>
                  <a:pt x="397103" y="3451302"/>
                  <a:pt x="145579" y="3396175"/>
                  <a:pt x="0" y="3439264"/>
                </a:cubicBezTo>
                <a:cubicBezTo>
                  <a:pt x="-12517" y="3211557"/>
                  <a:pt x="21456" y="3064503"/>
                  <a:pt x="0" y="2969231"/>
                </a:cubicBezTo>
                <a:cubicBezTo>
                  <a:pt x="-21456" y="2873959"/>
                  <a:pt x="45146" y="2624450"/>
                  <a:pt x="0" y="2361628"/>
                </a:cubicBezTo>
                <a:cubicBezTo>
                  <a:pt x="-45146" y="2098806"/>
                  <a:pt x="32070" y="2035079"/>
                  <a:pt x="0" y="1891595"/>
                </a:cubicBezTo>
                <a:cubicBezTo>
                  <a:pt x="-32070" y="1748111"/>
                  <a:pt x="34572" y="1600498"/>
                  <a:pt x="0" y="1421562"/>
                </a:cubicBezTo>
                <a:cubicBezTo>
                  <a:pt x="-34572" y="1242626"/>
                  <a:pt x="47182" y="967501"/>
                  <a:pt x="0" y="779567"/>
                </a:cubicBezTo>
                <a:cubicBezTo>
                  <a:pt x="-47182" y="591633"/>
                  <a:pt x="7041" y="156592"/>
                  <a:pt x="0" y="0"/>
                </a:cubicBezTo>
                <a:close/>
              </a:path>
              <a:path w="2815772" h="3439264" stroke="0" extrusionOk="0">
                <a:moveTo>
                  <a:pt x="0" y="0"/>
                </a:moveTo>
                <a:cubicBezTo>
                  <a:pt x="127867" y="-33720"/>
                  <a:pt x="291002" y="20461"/>
                  <a:pt x="534997" y="0"/>
                </a:cubicBezTo>
                <a:cubicBezTo>
                  <a:pt x="778992" y="-20461"/>
                  <a:pt x="819349" y="30992"/>
                  <a:pt x="1013678" y="0"/>
                </a:cubicBezTo>
                <a:cubicBezTo>
                  <a:pt x="1208007" y="-30992"/>
                  <a:pt x="1444101" y="17033"/>
                  <a:pt x="1633148" y="0"/>
                </a:cubicBezTo>
                <a:cubicBezTo>
                  <a:pt x="1822195" y="-17033"/>
                  <a:pt x="1912936" y="32693"/>
                  <a:pt x="2168144" y="0"/>
                </a:cubicBezTo>
                <a:cubicBezTo>
                  <a:pt x="2423352" y="-32693"/>
                  <a:pt x="2684392" y="45502"/>
                  <a:pt x="2815772" y="0"/>
                </a:cubicBezTo>
                <a:cubicBezTo>
                  <a:pt x="2839381" y="177925"/>
                  <a:pt x="2744630" y="351995"/>
                  <a:pt x="2815772" y="641996"/>
                </a:cubicBezTo>
                <a:cubicBezTo>
                  <a:pt x="2886914" y="931997"/>
                  <a:pt x="2808099" y="1092464"/>
                  <a:pt x="2815772" y="1215207"/>
                </a:cubicBezTo>
                <a:cubicBezTo>
                  <a:pt x="2823445" y="1337950"/>
                  <a:pt x="2787177" y="1613023"/>
                  <a:pt x="2815772" y="1788417"/>
                </a:cubicBezTo>
                <a:cubicBezTo>
                  <a:pt x="2844367" y="1963811"/>
                  <a:pt x="2801682" y="2047446"/>
                  <a:pt x="2815772" y="2292843"/>
                </a:cubicBezTo>
                <a:cubicBezTo>
                  <a:pt x="2829862" y="2538240"/>
                  <a:pt x="2778299" y="2642783"/>
                  <a:pt x="2815772" y="2797268"/>
                </a:cubicBezTo>
                <a:cubicBezTo>
                  <a:pt x="2853245" y="2951753"/>
                  <a:pt x="2814931" y="3132777"/>
                  <a:pt x="2815772" y="3439264"/>
                </a:cubicBezTo>
                <a:cubicBezTo>
                  <a:pt x="2681838" y="3450594"/>
                  <a:pt x="2465132" y="3388495"/>
                  <a:pt x="2224460" y="3439264"/>
                </a:cubicBezTo>
                <a:cubicBezTo>
                  <a:pt x="1983788" y="3490033"/>
                  <a:pt x="1798034" y="3365096"/>
                  <a:pt x="1604990" y="3439264"/>
                </a:cubicBezTo>
                <a:cubicBezTo>
                  <a:pt x="1411946" y="3513432"/>
                  <a:pt x="1282332" y="3404727"/>
                  <a:pt x="985520" y="3439264"/>
                </a:cubicBezTo>
                <a:cubicBezTo>
                  <a:pt x="688708" y="3473801"/>
                  <a:pt x="236096" y="3342605"/>
                  <a:pt x="0" y="3439264"/>
                </a:cubicBezTo>
                <a:cubicBezTo>
                  <a:pt x="-51513" y="3295305"/>
                  <a:pt x="24731" y="2983038"/>
                  <a:pt x="0" y="2866053"/>
                </a:cubicBezTo>
                <a:cubicBezTo>
                  <a:pt x="-24731" y="2749068"/>
                  <a:pt x="21248" y="2482265"/>
                  <a:pt x="0" y="2327235"/>
                </a:cubicBezTo>
                <a:cubicBezTo>
                  <a:pt x="-21248" y="2172205"/>
                  <a:pt x="7242" y="2090917"/>
                  <a:pt x="0" y="1857203"/>
                </a:cubicBezTo>
                <a:cubicBezTo>
                  <a:pt x="-7242" y="1623489"/>
                  <a:pt x="31739" y="1544056"/>
                  <a:pt x="0" y="1352777"/>
                </a:cubicBezTo>
                <a:cubicBezTo>
                  <a:pt x="-31739" y="1161498"/>
                  <a:pt x="10798" y="956623"/>
                  <a:pt x="0" y="848352"/>
                </a:cubicBezTo>
                <a:cubicBezTo>
                  <a:pt x="-10798" y="740082"/>
                  <a:pt x="8489" y="302007"/>
                  <a:pt x="0" y="0"/>
                </a:cubicBezTo>
                <a:close/>
              </a:path>
            </a:pathLst>
          </a:custGeom>
          <a:solidFill>
            <a:schemeClr val="accent5">
              <a:alpha val="50000"/>
            </a:schemeClr>
          </a:solidFill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986406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8331-A050-7045-B985-9241C13A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072" y="629268"/>
            <a:ext cx="4939868" cy="1286160"/>
          </a:xfrm>
        </p:spPr>
        <p:txBody>
          <a:bodyPr anchor="b">
            <a:normAutofit/>
          </a:bodyPr>
          <a:lstStyle/>
          <a:p>
            <a:r>
              <a:rPr lang="en-US"/>
              <a:t>Design Criteria</a:t>
            </a:r>
          </a:p>
        </p:txBody>
      </p:sp>
      <p:pic>
        <p:nvPicPr>
          <p:cNvPr id="5" name="Picture 4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0015308B-676D-0D4D-AB79-9AC339D389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938" r="31222" b="-1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2115117"/>
            <a:ext cx="4732020" cy="0"/>
          </a:xfrm>
          <a:prstGeom prst="line">
            <a:avLst/>
          </a:prstGeom>
          <a:ln w="19050">
            <a:solidFill>
              <a:srgbClr val="E61F1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32597-49B8-FC49-9B58-716749F11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073" y="2438400"/>
            <a:ext cx="4939867" cy="3785419"/>
          </a:xfrm>
        </p:spPr>
        <p:txBody>
          <a:bodyPr>
            <a:normAutofit/>
          </a:bodyPr>
          <a:lstStyle/>
          <a:p>
            <a:pPr marL="292100" indent="-292100">
              <a:buFont typeface="+mj-lt"/>
              <a:buAutoNum type="arabicPeriod"/>
            </a:pPr>
            <a:r>
              <a:rPr lang="en-US" sz="1300"/>
              <a:t>Support sharing of resources</a:t>
            </a:r>
          </a:p>
          <a:p>
            <a:pPr marL="292100" lvl="1" indent="0">
              <a:buNone/>
            </a:pPr>
            <a:r>
              <a:rPr lang="en-US" sz="1300"/>
              <a:t>Examples:</a:t>
            </a:r>
          </a:p>
          <a:p>
            <a:pPr marL="577850" lvl="1" indent="-285750"/>
            <a:r>
              <a:rPr lang="en-US" sz="1300"/>
              <a:t>Cloud-based shared storage and files</a:t>
            </a:r>
          </a:p>
          <a:p>
            <a:pPr marL="577850" lvl="1" indent="-285750"/>
            <a:r>
              <a:rPr lang="en-US" sz="1300"/>
              <a:t>Peer-to-peer assisted multimedia streaming</a:t>
            </a:r>
          </a:p>
          <a:p>
            <a:pPr marL="577850" lvl="1" indent="-285750"/>
            <a:r>
              <a:rPr lang="en-US" sz="1300"/>
              <a:t>Shared services (think of outsourced mail systems and CDN’s)</a:t>
            </a:r>
          </a:p>
          <a:p>
            <a:pPr marL="292100" indent="-292100">
              <a:buFont typeface="+mj-lt"/>
              <a:buAutoNum type="arabicPeriod"/>
            </a:pPr>
            <a:r>
              <a:rPr lang="en-US" sz="1300"/>
              <a:t>Distribution transparency</a:t>
            </a:r>
          </a:p>
          <a:p>
            <a:pPr marL="292100" lvl="1" indent="0">
              <a:buNone/>
            </a:pPr>
            <a:r>
              <a:rPr lang="en-US" sz="1300"/>
              <a:t>Make the system appear as a single centralized system</a:t>
            </a:r>
          </a:p>
          <a:p>
            <a:pPr marL="292100" indent="-292100">
              <a:buFont typeface="+mj-lt"/>
              <a:buAutoNum type="arabicPeriod"/>
            </a:pPr>
            <a:r>
              <a:rPr lang="en-US" sz="1300"/>
              <a:t>Openness</a:t>
            </a:r>
          </a:p>
          <a:p>
            <a:pPr marL="292100" lvl="1" indent="0">
              <a:buNone/>
            </a:pPr>
            <a:r>
              <a:rPr lang="en-US" sz="1300"/>
              <a:t>Be able to interact with services from other open systems, irrespective of the underlying environment:</a:t>
            </a:r>
          </a:p>
          <a:p>
            <a:pPr marL="577850" lvl="1" indent="-285750"/>
            <a:r>
              <a:rPr lang="en-US" sz="1300"/>
              <a:t>well-defined interfaces; easily interoperate; portable; extensible</a:t>
            </a:r>
          </a:p>
          <a:p>
            <a:pPr marL="292100" indent="-292100">
              <a:buFont typeface="+mj-lt"/>
              <a:buAutoNum type="arabicPeriod"/>
            </a:pPr>
            <a:r>
              <a:rPr lang="en-US" sz="1300"/>
              <a:t>Scalability</a:t>
            </a:r>
          </a:p>
          <a:p>
            <a:pPr marL="292100" lvl="1" indent="0">
              <a:buNone/>
            </a:pPr>
            <a:r>
              <a:rPr lang="en-US" sz="1300"/>
              <a:t>Many dimensions of scalability:</a:t>
            </a:r>
          </a:p>
          <a:p>
            <a:pPr marL="577850" lvl="1" indent="-285750"/>
            <a:r>
              <a:rPr lang="en-US" sz="1300"/>
              <a:t>size; geography; administration</a:t>
            </a:r>
          </a:p>
          <a:p>
            <a:pPr marL="635000" lvl="1" indent="-292100">
              <a:buFont typeface="+mj-lt"/>
              <a:buAutoNum type="arabicPeriod"/>
            </a:pP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321349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977-168E-4846-92F7-870A38709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Criteria</a:t>
            </a:r>
            <a:br>
              <a:rPr lang="en-US"/>
            </a:br>
            <a:r>
              <a:rPr lang="en-US" sz="2800"/>
              <a:t>Ranking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976D7-C5F9-6646-8D9B-A0762B810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/>
              <a:t>How would you rank these four criteria?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3200"/>
              <a:t>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3200"/>
              <a:t>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3200"/>
              <a:t>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32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30485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977-168E-4846-92F7-870A38709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Criteria</a:t>
            </a:r>
            <a:br>
              <a:rPr lang="en-US"/>
            </a:br>
            <a:r>
              <a:rPr lang="en-US" sz="2800"/>
              <a:t>Ranking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976D7-C5F9-6646-8D9B-A0762B810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/>
              <a:t>How would you rank these four criteria?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3200"/>
              <a:t>Scalability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3200"/>
              <a:t>Distribution Transparency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3200"/>
              <a:t>Sharing of Resources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3200"/>
              <a:t>Openness</a:t>
            </a:r>
          </a:p>
        </p:txBody>
      </p:sp>
    </p:spTree>
    <p:extLst>
      <p:ext uri="{BB962C8B-B14F-4D97-AF65-F5344CB8AC3E}">
        <p14:creationId xmlns:p14="http://schemas.microsoft.com/office/powerpoint/2010/main" val="315412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Criterion:</a:t>
            </a:r>
            <a:br>
              <a:rPr lang="en-US"/>
            </a:br>
            <a:r>
              <a:rPr lang="en-US"/>
              <a:t>Distribution Transparency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2190750" cy="4351338"/>
          </a:xfrm>
        </p:spPr>
        <p:txBody>
          <a:bodyPr/>
          <a:lstStyle/>
          <a:p>
            <a:r>
              <a:rPr lang="en-US"/>
              <a:t>Two kinds of clients:</a:t>
            </a:r>
          </a:p>
          <a:p>
            <a:pPr lvl="1"/>
            <a:r>
              <a:rPr lang="en-US"/>
              <a:t>High level: hide distribution from users</a:t>
            </a:r>
          </a:p>
          <a:p>
            <a:pPr lvl="1"/>
            <a:r>
              <a:rPr lang="en-US"/>
              <a:t>Low level: hide distribution from software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ADC275A-5573-DD4F-976E-A4F9A9EB1D1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43791474"/>
              </p:ext>
            </p:extLst>
          </p:nvPr>
        </p:nvGraphicFramePr>
        <p:xfrm>
          <a:off x="2971800" y="1825625"/>
          <a:ext cx="5257800" cy="37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331">
                  <a:extLst>
                    <a:ext uri="{9D8B030D-6E8A-4147-A177-3AD203B41FA5}">
                      <a16:colId xmlns:a16="http://schemas.microsoft.com/office/drawing/2014/main" val="1791563839"/>
                    </a:ext>
                  </a:extLst>
                </a:gridCol>
                <a:gridCol w="3704469">
                  <a:extLst>
                    <a:ext uri="{9D8B030D-6E8A-4147-A177-3AD203B41FA5}">
                      <a16:colId xmlns:a16="http://schemas.microsoft.com/office/drawing/2014/main" val="2611430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158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Hide differences in data representation and how a component* is accessed from different clients.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62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Hide where a component is located.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277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Relocation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Hide that a component may be moved to another host </a:t>
                      </a:r>
                      <a:r>
                        <a:rPr lang="en-US" sz="1350" i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in use.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058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Hide that a </a:t>
                      </a:r>
                      <a:r>
                        <a:rPr lang="en-US" sz="1350" i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  <a:r>
                        <a:rPr 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may move to another location </a:t>
                      </a:r>
                      <a:r>
                        <a:rPr lang="en-US" sz="1350" i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in use</a:t>
                      </a:r>
                      <a:r>
                        <a:rPr 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8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Hide that a client is using a replica of a component.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46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Hide that a component may be shared by several independent simultaneous clients.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85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Hide the failure and recovery of a component </a:t>
                      </a:r>
                      <a:r>
                        <a:rPr lang="en-US" sz="1350" i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 in use</a:t>
                      </a:r>
                      <a:r>
                        <a:rPr lang="en-US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7223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DC912D3-AE30-3E4B-B89D-3983FA17AA84}"/>
              </a:ext>
            </a:extLst>
          </p:cNvPr>
          <p:cNvSpPr txBox="1"/>
          <p:nvPr/>
        </p:nvSpPr>
        <p:spPr>
          <a:xfrm>
            <a:off x="2971800" y="5584825"/>
            <a:ext cx="525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</a:t>
            </a:r>
            <a:r>
              <a:rPr lang="en-US" sz="1200" i="1" dirty="0"/>
              <a:t>Component</a:t>
            </a:r>
            <a:r>
              <a:rPr lang="en-US" sz="1200" dirty="0"/>
              <a:t> generally means a service, an object, data, or any resource.</a:t>
            </a:r>
          </a:p>
        </p:txBody>
      </p:sp>
    </p:spTree>
    <p:extLst>
      <p:ext uri="{BB962C8B-B14F-4D97-AF65-F5344CB8AC3E}">
        <p14:creationId xmlns:p14="http://schemas.microsoft.com/office/powerpoint/2010/main" val="1064317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B986521-0D58-A64F-BF90-04959A267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Distribution Transparency Categories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26FD7A1-DD8F-C749-8919-D563348CF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Can you think of examples of each category?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How would you rank their importance?</a:t>
            </a:r>
          </a:p>
        </p:txBody>
      </p:sp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FE797F0C-7EDF-3245-A893-4307A05EF1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5565462"/>
              </p:ext>
            </p:extLst>
          </p:nvPr>
        </p:nvGraphicFramePr>
        <p:xfrm>
          <a:off x="1310148" y="2438400"/>
          <a:ext cx="721749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290">
                  <a:extLst>
                    <a:ext uri="{9D8B030D-6E8A-4147-A177-3AD203B41FA5}">
                      <a16:colId xmlns:a16="http://schemas.microsoft.com/office/drawing/2014/main" val="1791563839"/>
                    </a:ext>
                  </a:extLst>
                </a:gridCol>
                <a:gridCol w="5085202">
                  <a:extLst>
                    <a:ext uri="{9D8B030D-6E8A-4147-A177-3AD203B41FA5}">
                      <a16:colId xmlns:a16="http://schemas.microsoft.com/office/drawing/2014/main" val="2611430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158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162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277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Relocation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50" i="1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058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8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Replication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46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Concurrency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858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Failure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5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722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84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3AF7-BDEE-ED42-A1FE-7B7929338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Degree of Transparency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816F0-B457-1549-AE25-865F7A8C8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Aiming at full distribution transparency may be too much:</a:t>
            </a:r>
          </a:p>
          <a:p>
            <a:pPr lvl="1"/>
            <a:r>
              <a:rPr lang="en-US"/>
              <a:t>There are communication latencies that cannot be hidden</a:t>
            </a:r>
          </a:p>
          <a:p>
            <a:pPr lvl="1"/>
            <a:r>
              <a:rPr lang="en-US" i="1"/>
              <a:t>Completely hiding failures </a:t>
            </a:r>
            <a:r>
              <a:rPr lang="en-US"/>
              <a:t>of networks and nodes is (theoretically and practically) impossible</a:t>
            </a:r>
          </a:p>
          <a:p>
            <a:pPr lvl="2"/>
            <a:r>
              <a:rPr lang="en-US"/>
              <a:t>You cannot distinguish a slow computer from a failing one</a:t>
            </a:r>
          </a:p>
          <a:p>
            <a:pPr lvl="2"/>
            <a:r>
              <a:rPr lang="en-US"/>
              <a:t>You can never be sure that a server actually performed an operation before a crash</a:t>
            </a:r>
          </a:p>
          <a:p>
            <a:pPr lvl="1"/>
            <a:r>
              <a:rPr lang="en-US"/>
              <a:t>Full transparency will </a:t>
            </a:r>
            <a:r>
              <a:rPr lang="en-US" i="1"/>
              <a:t>cost performance</a:t>
            </a:r>
            <a:r>
              <a:rPr lang="en-US"/>
              <a:t>, exposing distribution of the system</a:t>
            </a:r>
          </a:p>
          <a:p>
            <a:pPr lvl="2"/>
            <a:r>
              <a:rPr lang="en-US"/>
              <a:t>Keeping replicas exactly up-to-date with the master takes time</a:t>
            </a:r>
          </a:p>
          <a:p>
            <a:pPr lvl="2"/>
            <a:r>
              <a:rPr lang="en-US"/>
              <a:t>Immediately flushing write operations to disk for fault tolerance</a:t>
            </a:r>
          </a:p>
          <a:p>
            <a:r>
              <a:rPr lang="en-US"/>
              <a:t>Exposing distribution may be good</a:t>
            </a:r>
          </a:p>
          <a:p>
            <a:pPr lvl="1"/>
            <a:r>
              <a:rPr lang="en-US"/>
              <a:t>Making use of location-based services (finding your nearby friends)</a:t>
            </a:r>
          </a:p>
          <a:p>
            <a:pPr lvl="1"/>
            <a:r>
              <a:rPr lang="en-US"/>
              <a:t>When dealing with users in different time zones</a:t>
            </a:r>
          </a:p>
          <a:p>
            <a:pPr lvl="1"/>
            <a:r>
              <a:rPr lang="en-US"/>
              <a:t>When it makes it easier for a user to understand what’s going on (when e.g., a server does not respond for a long time, report it as failing).</a:t>
            </a:r>
          </a:p>
          <a:p>
            <a:pPr lvl="1"/>
            <a:endParaRPr lang="en-US"/>
          </a:p>
          <a:p>
            <a:pPr lvl="2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3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0B37B-4CA8-B046-8ADA-36EA016FB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/>
              <a:t>Degree of Transparency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C472A-5FD2-8346-91B0-9F5302A79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/>
              <a:t>Distribution transparency is a nice a goal, but achieving it is a different story, and it should often not even be aimed at.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Japanese Dolls">
            <a:extLst>
              <a:ext uri="{FF2B5EF4-FFF2-40B4-BE49-F238E27FC236}">
                <a16:creationId xmlns:a16="http://schemas.microsoft.com/office/drawing/2014/main" id="{F93EABBA-1ACF-409A-B88D-8D0715150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238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64AB3-568E-A441-877A-F79B5E485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Criterion:</a:t>
            </a:r>
            <a:br>
              <a:rPr lang="en-US"/>
            </a:br>
            <a:r>
              <a:rPr lang="en-US"/>
              <a:t>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D8685-B775-2C45-ABD7-7EE1A5804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Many developers of modern distributed systems easily use the adjective “scalable” without making clear why or how their system actually scales.</a:t>
            </a:r>
          </a:p>
          <a:p>
            <a:r>
              <a:rPr lang="en-US"/>
              <a:t>At least three components:</a:t>
            </a:r>
          </a:p>
          <a:p>
            <a:pPr lvl="1"/>
            <a:r>
              <a:rPr lang="en-US"/>
              <a:t>Number of users and/or processes (</a:t>
            </a:r>
            <a:r>
              <a:rPr lang="en-US" b="1"/>
              <a:t>size scalability</a:t>
            </a:r>
            <a:r>
              <a:rPr lang="en-US"/>
              <a:t>)</a:t>
            </a:r>
          </a:p>
          <a:p>
            <a:pPr lvl="1"/>
            <a:r>
              <a:rPr lang="en-US"/>
              <a:t>Maximum distance between nodes (</a:t>
            </a:r>
            <a:r>
              <a:rPr lang="en-US" b="1"/>
              <a:t>geographical scalability</a:t>
            </a:r>
            <a:r>
              <a:rPr lang="en-US"/>
              <a:t>)</a:t>
            </a:r>
          </a:p>
          <a:p>
            <a:pPr lvl="1"/>
            <a:r>
              <a:rPr lang="en-US"/>
              <a:t>Number of administrative domains (</a:t>
            </a:r>
            <a:r>
              <a:rPr lang="en-US" b="1"/>
              <a:t>administrative scalability</a:t>
            </a:r>
            <a:r>
              <a:rPr lang="en-US"/>
              <a:t>)</a:t>
            </a:r>
          </a:p>
          <a:p>
            <a:r>
              <a:rPr lang="en-US"/>
              <a:t>Observation:</a:t>
            </a:r>
          </a:p>
          <a:p>
            <a:pPr lvl="1"/>
            <a:r>
              <a:rPr lang="en-US"/>
              <a:t>Most systems account only, to a certain extent, for size scalability. </a:t>
            </a:r>
          </a:p>
          <a:p>
            <a:pPr lvl="1"/>
            <a:r>
              <a:rPr lang="en-US"/>
              <a:t>Often a solution: multiple powerful servers operating independently in parallel. </a:t>
            </a:r>
          </a:p>
          <a:p>
            <a:pPr lvl="1"/>
            <a:r>
              <a:rPr lang="en-US"/>
              <a:t>Today, the challenge still lies in geographical and administrative scalability.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86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B62F2-FBE6-574D-B247-F25C41F86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Size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2F860-439E-3248-9F34-97069EC78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Root causes for scalability problems with centralized solutions:</a:t>
            </a:r>
          </a:p>
          <a:p>
            <a:pPr lvl="1"/>
            <a:r>
              <a:rPr lang="en-US"/>
              <a:t>The computational capacity, limited by the CPUs</a:t>
            </a:r>
          </a:p>
          <a:p>
            <a:pPr lvl="1"/>
            <a:r>
              <a:rPr lang="en-US"/>
              <a:t>The storage capacity, including the transfer rate between CPUs and disks</a:t>
            </a:r>
          </a:p>
          <a:p>
            <a:pPr lvl="1"/>
            <a:r>
              <a:rPr lang="en-US"/>
              <a:t>The network between the user and the centralized service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r>
              <a:rPr lang="en-US"/>
              <a:t>Often solution is to decentralize:</a:t>
            </a:r>
          </a:p>
          <a:p>
            <a:pPr lvl="1"/>
            <a:r>
              <a:rPr lang="en-US"/>
              <a:t>Partitioning data and computations</a:t>
            </a:r>
          </a:p>
          <a:p>
            <a:pPr lvl="1"/>
            <a:r>
              <a:rPr lang="en-US"/>
              <a:t>Replication and caching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9B55F7A-1C26-2E42-AF8F-32DBCC34D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00400"/>
            <a:ext cx="69596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3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074AF-17CD-0A46-844D-2541C8278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Geographic Scalability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B19DB-C4FA-A047-B005-7E7DFD886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Cannot simply go from LAN to WAN.</a:t>
            </a:r>
          </a:p>
          <a:p>
            <a:pPr lvl="1"/>
            <a:r>
              <a:rPr lang="en-US"/>
              <a:t>Many distributed systems assume synchronous client-server interactions: client sends request and waits for an answer. </a:t>
            </a:r>
          </a:p>
          <a:p>
            <a:pPr lvl="1"/>
            <a:r>
              <a:rPr lang="en-US"/>
              <a:t>Latency may easily prohibit this scheme.</a:t>
            </a:r>
          </a:p>
          <a:p>
            <a:r>
              <a:rPr lang="en-US"/>
              <a:t>WAN links are often inherently unreliable</a:t>
            </a:r>
          </a:p>
          <a:p>
            <a:pPr lvl="1"/>
            <a:r>
              <a:rPr lang="en-US"/>
              <a:t>Simply moving streaming video from LAN to WAN is bound to fail.</a:t>
            </a:r>
          </a:p>
          <a:p>
            <a:r>
              <a:rPr lang="en-US"/>
              <a:t>Lack of multipoint communication, so that a simple search broadcast cannot be deployed. </a:t>
            </a:r>
          </a:p>
          <a:p>
            <a:pPr lvl="1"/>
            <a:r>
              <a:rPr lang="en-US"/>
              <a:t>Solution is to develop separate naming and directory services (having their own scalability problems).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4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747D-812C-BF49-9834-74D99E0F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Administrative Scalability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5454C8-0963-F04A-AAAC-58856A2A88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752600"/>
            <a:ext cx="6921500" cy="99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37EBC5-E44E-3545-8D1A-133E688F7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805111"/>
            <a:ext cx="6946900" cy="1651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7B42C5-A923-C54A-A40B-0EB4F56BE0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940" y="4518022"/>
            <a:ext cx="69469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86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4A22-D71B-5646-B0AF-827B2920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072" y="629268"/>
            <a:ext cx="4939868" cy="1286160"/>
          </a:xfrm>
        </p:spPr>
        <p:txBody>
          <a:bodyPr anchor="b">
            <a:normAutofit/>
          </a:bodyPr>
          <a:lstStyle/>
          <a:p>
            <a:r>
              <a:rPr lang="en-US"/>
              <a:t>Design Challenges</a:t>
            </a:r>
          </a:p>
        </p:txBody>
      </p:sp>
      <p:pic>
        <p:nvPicPr>
          <p:cNvPr id="4" name="Picture 3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655A0278-22C7-BC48-9416-AC837669EA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557" r="28603" b="-1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effectLst/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2115117"/>
            <a:ext cx="47320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2035B-3D0A-3046-8C9A-F5F81F7D5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073" y="2438400"/>
            <a:ext cx="4939867" cy="4190998"/>
          </a:xfrm>
        </p:spPr>
        <p:txBody>
          <a:bodyPr>
            <a:normAutofit lnSpcReduction="10000"/>
          </a:bodyPr>
          <a:lstStyle/>
          <a:p>
            <a:r>
              <a:rPr lang="en-US" sz="1300"/>
              <a:t>Pitfalls</a:t>
            </a:r>
          </a:p>
          <a:p>
            <a:pPr lvl="1"/>
            <a:r>
              <a:rPr lang="en-US" sz="1300"/>
              <a:t>Based on prejudices evolved from building single-node systems</a:t>
            </a:r>
          </a:p>
          <a:p>
            <a:r>
              <a:rPr lang="en-US" sz="1300"/>
              <a:t>Failures</a:t>
            </a:r>
          </a:p>
          <a:p>
            <a:pPr lvl="1"/>
            <a:r>
              <a:rPr lang="en-US" sz="1300"/>
              <a:t>No longer atomic nor simple to model and reason about</a:t>
            </a:r>
          </a:p>
          <a:p>
            <a:r>
              <a:rPr lang="en-US" sz="1300"/>
              <a:t>No Global Knowledge</a:t>
            </a:r>
          </a:p>
          <a:p>
            <a:pPr lvl="1"/>
            <a:r>
              <a:rPr lang="en-US" sz="1300"/>
              <a:t>Data consistency is not a given</a:t>
            </a:r>
          </a:p>
          <a:p>
            <a:pPr lvl="1"/>
            <a:r>
              <a:rPr lang="en-US" sz="1300"/>
              <a:t>Clock: accurate knowledge of actual time is not a given</a:t>
            </a:r>
          </a:p>
          <a:p>
            <a:pPr lvl="1"/>
            <a:r>
              <a:rPr lang="en-US" sz="1300"/>
              <a:t>Sharing knowledge requires inter-process communication (IPC)</a:t>
            </a:r>
          </a:p>
          <a:p>
            <a:r>
              <a:rPr lang="en-US" sz="1300"/>
              <a:t>Dynamic Topology</a:t>
            </a:r>
          </a:p>
          <a:p>
            <a:pPr lvl="1"/>
            <a:r>
              <a:rPr lang="en-US" sz="1300"/>
              <a:t>Need to be able to add and remove components</a:t>
            </a:r>
          </a:p>
          <a:p>
            <a:pPr lvl="2"/>
            <a:r>
              <a:rPr lang="en-US" sz="1300"/>
              <a:t>If failed components are removed, the system should still work</a:t>
            </a:r>
          </a:p>
          <a:p>
            <a:pPr lvl="2"/>
            <a:r>
              <a:rPr lang="en-US" sz="1300"/>
              <a:t>If replacements are brought in, the system should integrate them</a:t>
            </a:r>
          </a:p>
          <a:p>
            <a:r>
              <a:rPr lang="en-US" sz="1300"/>
              <a:t>Security</a:t>
            </a:r>
          </a:p>
          <a:p>
            <a:r>
              <a:rPr lang="en-US" sz="1300"/>
              <a:t>Development</a:t>
            </a:r>
          </a:p>
          <a:p>
            <a:pPr lvl="1">
              <a:lnSpc>
                <a:spcPct val="100000"/>
              </a:lnSpc>
            </a:pPr>
            <a:r>
              <a:rPr lang="en-US" sz="1300"/>
              <a:t>Notoriously difficult to test, verify, stage, deploy, and debug distributed systems</a:t>
            </a:r>
          </a:p>
        </p:txBody>
      </p:sp>
    </p:spTree>
    <p:extLst>
      <p:ext uri="{BB962C8B-B14F-4D97-AF65-F5344CB8AC3E}">
        <p14:creationId xmlns:p14="http://schemas.microsoft.com/office/powerpoint/2010/main" val="406030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AD7F-2705-3D48-B910-91251AFE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Challenge:</a:t>
            </a:r>
            <a:br>
              <a:rPr lang="en-US"/>
            </a:br>
            <a:r>
              <a:rPr lang="en-US"/>
              <a:t>Pitfalls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7A45E-A1F2-FD42-AD43-791A37F25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Many distributed systems are needlessly complex caused by mistakes that required patching later on. Many false assumptions are often made.</a:t>
            </a:r>
          </a:p>
          <a:p>
            <a:r>
              <a:rPr lang="en-US"/>
              <a:t>False (and often hidden) assumptions:</a:t>
            </a:r>
          </a:p>
          <a:p>
            <a:pPr lvl="1"/>
            <a:r>
              <a:rPr lang="en-US"/>
              <a:t>The network is reliable</a:t>
            </a:r>
          </a:p>
          <a:p>
            <a:pPr lvl="1"/>
            <a:r>
              <a:rPr lang="en-US"/>
              <a:t>The network is secure</a:t>
            </a:r>
          </a:p>
          <a:p>
            <a:pPr lvl="1"/>
            <a:r>
              <a:rPr lang="en-US"/>
              <a:t>The network is homogeneous</a:t>
            </a:r>
          </a:p>
          <a:p>
            <a:pPr lvl="1"/>
            <a:r>
              <a:rPr lang="en-US"/>
              <a:t>The topology does not change</a:t>
            </a:r>
          </a:p>
          <a:p>
            <a:pPr lvl="1"/>
            <a:r>
              <a:rPr lang="en-US"/>
              <a:t>Latency is zero</a:t>
            </a:r>
          </a:p>
          <a:p>
            <a:pPr lvl="1"/>
            <a:r>
              <a:rPr lang="en-US"/>
              <a:t>Bandwidth is infinite</a:t>
            </a:r>
          </a:p>
          <a:p>
            <a:pPr lvl="1"/>
            <a:r>
              <a:rPr lang="en-US"/>
              <a:t>Transport cost is zero</a:t>
            </a:r>
          </a:p>
          <a:p>
            <a:pPr lvl="1"/>
            <a:r>
              <a:rPr lang="en-US"/>
              <a:t>There is one administrator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2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158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10D58C9-B687-E34A-9990-1904D7924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" y="2053641"/>
            <a:ext cx="2751871" cy="27600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Design Challenge: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801866"/>
            <a:ext cx="3979563" cy="52306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You know you have a distributed system when the crash of a computer you’ve never heard of stops you from getting any work done.</a:t>
            </a:r>
          </a:p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	                                         − </a:t>
            </a:r>
            <a:r>
              <a:rPr lang="en-US" i="1">
                <a:solidFill>
                  <a:srgbClr val="000000"/>
                </a:solidFill>
              </a:rPr>
              <a:t>Leslie Lamport</a:t>
            </a:r>
          </a:p>
          <a:p>
            <a:pPr marL="0" indent="0">
              <a:buNone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48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Handling Failures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C00000"/>
                </a:solidFill>
              </a:rPr>
              <a:t>Failure is the norm, not a rare event!</a:t>
            </a:r>
          </a:p>
          <a:p>
            <a:r>
              <a:rPr lang="en-US"/>
              <a:t>In local systems, failure is usually all-or-nothing</a:t>
            </a:r>
          </a:p>
          <a:p>
            <a:r>
              <a:rPr lang="en-US"/>
              <a:t>In distributed systems, we get partial failure</a:t>
            </a:r>
          </a:p>
          <a:p>
            <a:pPr lvl="1"/>
            <a:r>
              <a:rPr lang="en-US"/>
              <a:t>Send a request but don't get a response</a:t>
            </a:r>
          </a:p>
          <a:p>
            <a:pPr lvl="1"/>
            <a:r>
              <a:rPr lang="en-US">
                <a:solidFill>
                  <a:srgbClr val="C00000"/>
                </a:solidFill>
              </a:rPr>
              <a:t>What happened?</a:t>
            </a:r>
          </a:p>
          <a:p>
            <a:r>
              <a:rPr lang="en-US"/>
              <a:t>Need to deal with </a:t>
            </a:r>
            <a:r>
              <a:rPr lang="en-US">
                <a:solidFill>
                  <a:srgbClr val="C00000"/>
                </a:solidFill>
              </a:rPr>
              <a:t>detection</a:t>
            </a:r>
            <a:r>
              <a:rPr lang="en-US"/>
              <a:t>, </a:t>
            </a:r>
            <a:r>
              <a:rPr lang="en-US">
                <a:solidFill>
                  <a:srgbClr val="C00000"/>
                </a:solidFill>
              </a:rPr>
              <a:t>recovery</a:t>
            </a:r>
            <a:r>
              <a:rPr lang="en-US"/>
              <a:t>, and </a:t>
            </a:r>
            <a:r>
              <a:rPr lang="en-US">
                <a:solidFill>
                  <a:srgbClr val="C00000"/>
                </a:solidFill>
              </a:rPr>
              <a:t>restart</a:t>
            </a:r>
          </a:p>
          <a:p>
            <a:pPr lvl="1"/>
            <a:r>
              <a:rPr lang="en-US" i="1"/>
              <a:t>Availability</a:t>
            </a:r>
            <a:r>
              <a:rPr lang="en-US"/>
              <a:t> = fraction of time system is usable</a:t>
            </a:r>
          </a:p>
          <a:p>
            <a:pPr lvl="2"/>
            <a:r>
              <a:rPr lang="en-US"/>
              <a:t>Achieve with redundancy</a:t>
            </a:r>
          </a:p>
          <a:p>
            <a:pPr lvl="2"/>
            <a:r>
              <a:rPr lang="en-US"/>
              <a:t>But consistency is an issue!</a:t>
            </a:r>
          </a:p>
          <a:p>
            <a:pPr lvl="1"/>
            <a:r>
              <a:rPr lang="en-US" i="1"/>
              <a:t>Reliability</a:t>
            </a:r>
            <a:r>
              <a:rPr lang="en-US"/>
              <a:t>: data must not get lost</a:t>
            </a:r>
          </a:p>
          <a:p>
            <a:pPr lvl="2"/>
            <a:r>
              <a:rPr lang="en-US"/>
              <a:t>Includes security</a:t>
            </a:r>
          </a:p>
        </p:txBody>
      </p:sp>
    </p:spTree>
    <p:extLst>
      <p:ext uri="{BB962C8B-B14F-4D97-AF65-F5344CB8AC3E}">
        <p14:creationId xmlns:p14="http://schemas.microsoft.com/office/powerpoint/2010/main" val="158844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Failure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C00000"/>
                </a:solidFill>
              </a:rPr>
              <a:t>Fail-stop</a:t>
            </a:r>
            <a:r>
              <a:rPr lang="en-US"/>
              <a:t> </a:t>
            </a:r>
          </a:p>
          <a:p>
            <a:pPr lvl="1"/>
            <a:r>
              <a:rPr lang="en-US"/>
              <a:t>Failed component stops functioning</a:t>
            </a:r>
          </a:p>
          <a:p>
            <a:pPr lvl="2"/>
            <a:r>
              <a:rPr lang="en-US"/>
              <a:t>Ideally, it may notify other components first</a:t>
            </a:r>
          </a:p>
          <a:p>
            <a:pPr lvl="1"/>
            <a:r>
              <a:rPr lang="en-US"/>
              <a:t>Halting = stop without notice </a:t>
            </a:r>
          </a:p>
          <a:p>
            <a:pPr lvl="1"/>
            <a:r>
              <a:rPr lang="en-US"/>
              <a:t>Detect via timeouts</a:t>
            </a:r>
          </a:p>
          <a:p>
            <a:pPr lvl="2"/>
            <a:r>
              <a:rPr lang="en-US"/>
              <a:t>But timeouts aren't reliable if network latency is variable or if the network isn't reliable</a:t>
            </a:r>
          </a:p>
          <a:p>
            <a:pPr lvl="2"/>
            <a:r>
              <a:rPr lang="en-US"/>
              <a:t>We mark it “dead” anyway if it times out</a:t>
            </a:r>
          </a:p>
          <a:p>
            <a:r>
              <a:rPr lang="en-US">
                <a:solidFill>
                  <a:srgbClr val="C00000"/>
                </a:solidFill>
              </a:rPr>
              <a:t>Fail-restart</a:t>
            </a:r>
          </a:p>
          <a:p>
            <a:pPr lvl="1"/>
            <a:r>
              <a:rPr lang="en-US"/>
              <a:t>Component stops but then restarts</a:t>
            </a:r>
          </a:p>
          <a:p>
            <a:pPr lvl="1"/>
            <a:r>
              <a:rPr lang="en-US"/>
              <a:t>Danger: stale state</a:t>
            </a:r>
          </a:p>
        </p:txBody>
      </p:sp>
    </p:spTree>
    <p:extLst>
      <p:ext uri="{BB962C8B-B14F-4D97-AF65-F5344CB8AC3E}">
        <p14:creationId xmlns:p14="http://schemas.microsoft.com/office/powerpoint/2010/main" val="168831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Failure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862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C00000"/>
                </a:solidFill>
              </a:rPr>
              <a:t>Omission</a:t>
            </a:r>
          </a:p>
          <a:p>
            <a:pPr lvl="1"/>
            <a:r>
              <a:rPr lang="en-US"/>
              <a:t>Failure to send or receive messages</a:t>
            </a:r>
          </a:p>
          <a:p>
            <a:pPr lvl="2"/>
            <a:r>
              <a:rPr lang="en-US"/>
              <a:t>Queue overflow in routers, corrupted data, receive buffer overflow</a:t>
            </a:r>
          </a:p>
          <a:p>
            <a:r>
              <a:rPr lang="en-US">
                <a:solidFill>
                  <a:srgbClr val="C00000"/>
                </a:solidFill>
              </a:rPr>
              <a:t>Timing</a:t>
            </a:r>
          </a:p>
          <a:p>
            <a:pPr lvl="1"/>
            <a:r>
              <a:rPr lang="en-US"/>
              <a:t>Messages take longer than expected</a:t>
            </a:r>
          </a:p>
          <a:p>
            <a:pPr lvl="2"/>
            <a:r>
              <a:rPr lang="en-US"/>
              <a:t>We may assume a system is dead when it isn't </a:t>
            </a:r>
          </a:p>
          <a:p>
            <a:pPr lvl="1"/>
            <a:r>
              <a:rPr lang="en-US"/>
              <a:t>Unsynchronized clocks can alter process coordination</a:t>
            </a:r>
          </a:p>
          <a:p>
            <a:pPr lvl="2"/>
            <a:r>
              <a:rPr lang="en-US"/>
              <a:t>Mutual exclusion, timestamped log entries </a:t>
            </a:r>
          </a:p>
          <a:p>
            <a:r>
              <a:rPr lang="en-US">
                <a:solidFill>
                  <a:srgbClr val="C00000"/>
                </a:solidFill>
              </a:rPr>
              <a:t>Partition</a:t>
            </a:r>
          </a:p>
          <a:p>
            <a:pPr lvl="1"/>
            <a:r>
              <a:rPr lang="en-US"/>
              <a:t>Network fragments into two or more sub-networks that cannot communicate with each other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886200" y="5410200"/>
            <a:ext cx="4495800" cy="86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5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Failure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solidFill>
                  <a:srgbClr val="C00000"/>
                </a:solidFill>
              </a:rPr>
              <a:t>Byzantine failures </a:t>
            </a:r>
          </a:p>
          <a:p>
            <a:pPr lvl="1"/>
            <a:r>
              <a:rPr lang="en-US"/>
              <a:t>Instead of stopping, a component produces faulty data</a:t>
            </a:r>
          </a:p>
          <a:p>
            <a:pPr lvl="1"/>
            <a:r>
              <a:rPr lang="en-US"/>
              <a:t>Due to bad hardware, software, network problems, or malicious interference</a:t>
            </a:r>
          </a:p>
          <a:p>
            <a:endParaRPr lang="en-US"/>
          </a:p>
          <a:p>
            <a:r>
              <a:rPr lang="en-US"/>
              <a:t>Goal: avoid </a:t>
            </a:r>
            <a:r>
              <a:rPr lang="en-US">
                <a:solidFill>
                  <a:srgbClr val="C00000"/>
                </a:solidFill>
              </a:rPr>
              <a:t>single points of failure</a:t>
            </a:r>
          </a:p>
        </p:txBody>
      </p:sp>
    </p:spTree>
    <p:extLst>
      <p:ext uri="{BB962C8B-B14F-4D97-AF65-F5344CB8AC3E}">
        <p14:creationId xmlns:p14="http://schemas.microsoft.com/office/powerpoint/2010/main" val="181671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Challenge:</a:t>
            </a:r>
            <a:br>
              <a:rPr lang="en-US"/>
            </a:br>
            <a:r>
              <a:rPr lang="en-US"/>
              <a:t>No Global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Nobody has the true global state of a system</a:t>
            </a:r>
          </a:p>
          <a:p>
            <a:pPr lvl="1"/>
            <a:r>
              <a:rPr lang="en-US"/>
              <a:t>No shared memory</a:t>
            </a:r>
          </a:p>
          <a:p>
            <a:endParaRPr lang="en-US"/>
          </a:p>
          <a:p>
            <a:r>
              <a:rPr lang="en-US"/>
              <a:t>A process knows its current state </a:t>
            </a:r>
          </a:p>
          <a:p>
            <a:pPr lvl="1"/>
            <a:r>
              <a:rPr lang="en-US"/>
              <a:t>It may know the last reported state of other processes</a:t>
            </a:r>
          </a:p>
          <a:p>
            <a:pPr lvl="1"/>
            <a:r>
              <a:rPr lang="en-US"/>
              <a:t>It may periodically report its state to others</a:t>
            </a:r>
          </a:p>
          <a:p>
            <a:endParaRPr lang="en-US"/>
          </a:p>
          <a:p>
            <a:r>
              <a:rPr lang="en-US"/>
              <a:t>No foolproof way to detect failure in all cases </a:t>
            </a:r>
          </a:p>
        </p:txBody>
      </p:sp>
    </p:spTree>
    <p:extLst>
      <p:ext uri="{BB962C8B-B14F-4D97-AF65-F5344CB8AC3E}">
        <p14:creationId xmlns:p14="http://schemas.microsoft.com/office/powerpoint/2010/main" val="154707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Local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State</a:t>
            </a:r>
          </a:p>
          <a:p>
            <a:pPr lvl="1"/>
            <a:r>
              <a:rPr lang="en-US"/>
              <a:t>Current values of the data</a:t>
            </a:r>
          </a:p>
          <a:p>
            <a:pPr lvl="1"/>
            <a:r>
              <a:rPr lang="en-US"/>
              <a:t>Network connection info, process memory, list of clients with open files, lists of which clients finished their tasks</a:t>
            </a:r>
          </a:p>
          <a:p>
            <a:r>
              <a:rPr lang="en-US"/>
              <a:t>Replicas</a:t>
            </a:r>
          </a:p>
          <a:p>
            <a:pPr lvl="1"/>
            <a:r>
              <a:rPr lang="en-US"/>
              <a:t>Redundant copies of data</a:t>
            </a:r>
          </a:p>
          <a:p>
            <a:r>
              <a:rPr lang="en-US"/>
              <a:t>Cache</a:t>
            </a:r>
          </a:p>
          <a:p>
            <a:pPr lvl="1"/>
            <a:r>
              <a:rPr lang="en-US"/>
              <a:t>Local storage of frequently-accessed data to reduce latency</a:t>
            </a:r>
          </a:p>
          <a:p>
            <a:r>
              <a:rPr lang="en-US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116710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Challenge:</a:t>
            </a:r>
            <a:br>
              <a:rPr lang="en-US"/>
            </a:br>
            <a:r>
              <a:rPr lang="en-US"/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The environment</a:t>
            </a:r>
          </a:p>
          <a:p>
            <a:pPr lvl="1"/>
            <a:r>
              <a:rPr lang="en-US"/>
              <a:t>Public networks, remotely-managed services, 3rd party services</a:t>
            </a:r>
          </a:p>
          <a:p>
            <a:r>
              <a:rPr lang="en-US"/>
              <a:t>Some issues</a:t>
            </a:r>
          </a:p>
          <a:p>
            <a:pPr lvl="1"/>
            <a:r>
              <a:rPr lang="en-US"/>
              <a:t>Malicious interference, bad user input, impersonation of users &amp; services</a:t>
            </a:r>
          </a:p>
          <a:p>
            <a:pPr lvl="1"/>
            <a:r>
              <a:rPr lang="en-US"/>
              <a:t>Protocol attacks, input validation attacks, time-based attacks, replay attacks</a:t>
            </a:r>
          </a:p>
          <a:p>
            <a:r>
              <a:rPr lang="en-US"/>
              <a:t>Rely on authentication &amp; encryption … and good programming! </a:t>
            </a:r>
          </a:p>
          <a:p>
            <a:r>
              <a:rPr lang="en-US"/>
              <a:t>Users also want convenience</a:t>
            </a:r>
          </a:p>
          <a:p>
            <a:pPr lvl="1"/>
            <a:r>
              <a:rPr lang="en-US"/>
              <a:t>Single sign-on</a:t>
            </a:r>
          </a:p>
          <a:p>
            <a:pPr lvl="1"/>
            <a:r>
              <a:rPr lang="en-US"/>
              <a:t>Controlled access to services</a:t>
            </a:r>
          </a:p>
        </p:txBody>
      </p:sp>
    </p:spTree>
    <p:extLst>
      <p:ext uri="{BB962C8B-B14F-4D97-AF65-F5344CB8AC3E}">
        <p14:creationId xmlns:p14="http://schemas.microsoft.com/office/powerpoint/2010/main" val="1785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8FB86CFC-3F17-3946-B972-9D504FAAB5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" r="3641" b="-1"/>
          <a:stretch/>
        </p:blipFill>
        <p:spPr>
          <a:xfrm>
            <a:off x="965647" y="10"/>
            <a:ext cx="9143980" cy="6857990"/>
          </a:xfrm>
          <a:prstGeom prst="rect">
            <a:avLst/>
          </a:prstGeom>
        </p:spPr>
      </p:pic>
      <p:sp>
        <p:nvSpPr>
          <p:cNvPr id="14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882442" y="2714171"/>
            <a:ext cx="4261558" cy="4150119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68580" tIns="34290" rIns="68580" bIns="34290" rtlCol="0" anchor="t">
            <a:normAutofit/>
          </a:bodyPr>
          <a:lstStyle/>
          <a:p>
            <a:pPr algn="ctr">
              <a:spcAft>
                <a:spcPts val="750"/>
              </a:spcAft>
              <a:buClr>
                <a:schemeClr val="tx1"/>
              </a:buClr>
              <a:buSzPct val="100000"/>
            </a:pPr>
            <a:endParaRPr lang="en-US" sz="1200" cap="al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708" y="3734093"/>
            <a:ext cx="3709553" cy="13755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3000"/>
              <a:t>Distributed Architectures</a:t>
            </a: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8B717-D053-1545-A0D9-653F8944B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7637" y="5243376"/>
            <a:ext cx="3247697" cy="512463"/>
          </a:xfrm>
        </p:spPr>
        <p:txBody>
          <a:bodyPr vert="horz" lIns="91440" tIns="45720" rIns="91440" bIns="45720" numCol="2" rtlCol="0">
            <a:normAutofit fontScale="70000" lnSpcReduction="20000"/>
          </a:bodyPr>
          <a:lstStyle/>
          <a:p>
            <a:pPr algn="ctr" defTabSz="914400">
              <a:spcBef>
                <a:spcPts val="1000"/>
              </a:spcBef>
            </a:pPr>
            <a:r>
              <a:rPr lang="en-US" sz="17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</a:p>
          <a:p>
            <a:pPr algn="ctr" defTabSz="914400">
              <a:spcBef>
                <a:spcPts val="1000"/>
              </a:spcBef>
            </a:pPr>
            <a:r>
              <a:rPr lang="en-US" sz="17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Ideas</a:t>
            </a:r>
          </a:p>
          <a:p>
            <a:pPr algn="ctr" defTabSz="914400">
              <a:spcBef>
                <a:spcPts val="1000"/>
              </a:spcBef>
            </a:pPr>
            <a:r>
              <a:rPr lang="en-US" sz="1750">
                <a:solidFill>
                  <a:schemeClr val="tx1"/>
                </a:solidFill>
              </a:rPr>
              <a:t>Services</a:t>
            </a:r>
          </a:p>
          <a:p>
            <a:pPr algn="ctr" defTabSz="914400">
              <a:spcBef>
                <a:spcPts val="1000"/>
              </a:spcBef>
            </a:pPr>
            <a:r>
              <a:rPr lang="en-US" sz="1750">
                <a:solidFill>
                  <a:schemeClr val="tx1"/>
                </a:solidFill>
              </a:rPr>
              <a:t>Peers</a:t>
            </a:r>
            <a:endParaRPr lang="en-US" sz="175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10703" y="5154215"/>
            <a:ext cx="701565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815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8331-A050-7045-B985-9241C13A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072" y="629268"/>
            <a:ext cx="4939868" cy="1286160"/>
          </a:xfrm>
        </p:spPr>
        <p:txBody>
          <a:bodyPr anchor="b">
            <a:normAutofit/>
          </a:bodyPr>
          <a:lstStyle/>
          <a:p>
            <a:r>
              <a:rPr lang="en-US"/>
              <a:t>Tools</a:t>
            </a:r>
          </a:p>
        </p:txBody>
      </p:sp>
      <p:pic>
        <p:nvPicPr>
          <p:cNvPr id="5" name="Picture 4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0015308B-676D-0D4D-AB79-9AC339D389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558" r="28602" b="-1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2115117"/>
            <a:ext cx="47320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32597-49B8-FC49-9B58-716749F11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073" y="2438400"/>
            <a:ext cx="4939867" cy="3785419"/>
          </a:xfrm>
        </p:spPr>
        <p:txBody>
          <a:bodyPr>
            <a:normAutofit lnSpcReduction="10000"/>
          </a:bodyPr>
          <a:lstStyle/>
          <a:p>
            <a:r>
              <a:rPr lang="en-US" sz="1600"/>
              <a:t>IPC Approaches</a:t>
            </a:r>
          </a:p>
          <a:p>
            <a:pPr lvl="1"/>
            <a:r>
              <a:rPr lang="en-US" sz="1600"/>
              <a:t>Shared Memory</a:t>
            </a:r>
          </a:p>
          <a:p>
            <a:pPr lvl="1"/>
            <a:r>
              <a:rPr lang="en-US" sz="1600"/>
              <a:t>Messages</a:t>
            </a:r>
          </a:p>
          <a:p>
            <a:pPr lvl="2"/>
            <a:r>
              <a:rPr lang="en-US" sz="1600"/>
              <a:t>Bus-based messaging (various topologies)</a:t>
            </a:r>
          </a:p>
          <a:p>
            <a:pPr lvl="2"/>
            <a:r>
              <a:rPr lang="en-US" sz="1600"/>
              <a:t>Internet protocols: TCP/IP and UDP/IP</a:t>
            </a:r>
          </a:p>
          <a:p>
            <a:r>
              <a:rPr lang="en-US" sz="1600"/>
              <a:t>Data Distribution</a:t>
            </a:r>
          </a:p>
          <a:p>
            <a:pPr lvl="1"/>
            <a:r>
              <a:rPr lang="en-US" sz="1600"/>
              <a:t>Partitioning</a:t>
            </a:r>
          </a:p>
          <a:p>
            <a:pPr lvl="1"/>
            <a:r>
              <a:rPr lang="en-US" sz="1600"/>
              <a:t>Replication</a:t>
            </a:r>
          </a:p>
          <a:p>
            <a:pPr lvl="1"/>
            <a:r>
              <a:rPr lang="en-US" sz="1600"/>
              <a:t>Caching</a:t>
            </a:r>
          </a:p>
          <a:p>
            <a:r>
              <a:rPr lang="en-US" sz="1600"/>
              <a:t>Distributed Algorithms</a:t>
            </a:r>
          </a:p>
          <a:p>
            <a:pPr lvl="1"/>
            <a:r>
              <a:rPr lang="en-US" sz="1600"/>
              <a:t>Analysis of Algorithms Helps Design Scalability</a:t>
            </a:r>
          </a:p>
          <a:p>
            <a:pPr lvl="1"/>
            <a:r>
              <a:rPr lang="en-US" sz="1600"/>
              <a:t>Algorithms for Coordination</a:t>
            </a:r>
          </a:p>
          <a:p>
            <a:pPr lvl="1"/>
            <a:r>
              <a:rPr lang="en-US" sz="1600"/>
              <a:t>Algorithms for Cooperation</a:t>
            </a:r>
          </a:p>
          <a:p>
            <a:pPr lvl="1"/>
            <a:r>
              <a:rPr lang="en-US" sz="1600"/>
              <a:t>Algorithms for Fault Tolerance and Recovery</a:t>
            </a:r>
          </a:p>
        </p:txBody>
      </p:sp>
    </p:spTree>
    <p:extLst>
      <p:ext uri="{BB962C8B-B14F-4D97-AF65-F5344CB8AC3E}">
        <p14:creationId xmlns:p14="http://schemas.microsoft.com/office/powerpoint/2010/main" val="233758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65D9B-8836-5B46-9EDF-B36C44921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Messaging Tools: IP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A1706E8-8542-4EAF-A2E6-440987606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/>
              <a:t>Anything non-local usually uses TCP/IP or UDP/IP</a:t>
            </a:r>
          </a:p>
          <a:p>
            <a:r>
              <a:rPr lang="en-US"/>
              <a:t>And these are usually implemented with a socket library</a:t>
            </a:r>
          </a:p>
          <a:p>
            <a:pPr lvl="1"/>
            <a:r>
              <a:rPr lang="en-US"/>
              <a:t>Access the operating system’s network protocol stack</a:t>
            </a:r>
          </a:p>
          <a:p>
            <a:pPr lvl="1"/>
            <a:r>
              <a:rPr lang="en-US"/>
              <a:t>Originated at UC Berkeley in 1983 for their version of the Unix OS</a:t>
            </a:r>
          </a:p>
          <a:p>
            <a:pPr lvl="2"/>
            <a:r>
              <a:rPr lang="en-US"/>
              <a:t>Implement the file ADT: “Everything is a file”</a:t>
            </a:r>
          </a:p>
          <a:p>
            <a:pPr marL="685800" lvl="2" indent="0">
              <a:buNone/>
            </a:pP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CA9F3-5294-6A4E-AD3B-0ADBBC424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234" y="3657600"/>
            <a:ext cx="4880574" cy="2146430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596376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8331-A050-7045-B985-9241C13A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072" y="629268"/>
            <a:ext cx="4939868" cy="1286160"/>
          </a:xfrm>
        </p:spPr>
        <p:txBody>
          <a:bodyPr anchor="b">
            <a:normAutofit/>
          </a:bodyPr>
          <a:lstStyle/>
          <a:p>
            <a:r>
              <a:rPr lang="en-US"/>
              <a:t>Ideas</a:t>
            </a:r>
          </a:p>
        </p:txBody>
      </p:sp>
      <p:pic>
        <p:nvPicPr>
          <p:cNvPr id="5" name="Picture 4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0015308B-676D-0D4D-AB79-9AC339D389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559" r="28601" b="-1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2115117"/>
            <a:ext cx="47320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32597-49B8-FC49-9B58-716749F11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073" y="2438400"/>
            <a:ext cx="4939867" cy="3785419"/>
          </a:xfrm>
        </p:spPr>
        <p:txBody>
          <a:bodyPr>
            <a:noAutofit/>
          </a:bodyPr>
          <a:lstStyle/>
          <a:p>
            <a:r>
              <a:rPr lang="en-US" sz="1400"/>
              <a:t>Some old ideas:</a:t>
            </a:r>
          </a:p>
          <a:p>
            <a:pPr lvl="1"/>
            <a:r>
              <a:rPr lang="en-US" sz="1400"/>
              <a:t>Abstraction</a:t>
            </a:r>
          </a:p>
          <a:p>
            <a:pPr lvl="2"/>
            <a:r>
              <a:rPr lang="en-US" sz="1400"/>
              <a:t>APIs </a:t>
            </a:r>
            <a:r>
              <a:rPr lang="en-US" sz="1400">
                <a:sym typeface="Wingdings" pitchFamily="2" charset="2"/>
              </a:rPr>
              <a:t> </a:t>
            </a:r>
            <a:r>
              <a:rPr lang="en-US" sz="1400"/>
              <a:t>Layers/Tiers</a:t>
            </a:r>
          </a:p>
          <a:p>
            <a:pPr lvl="2"/>
            <a:r>
              <a:rPr lang="en-US" sz="1400"/>
              <a:t>Operating Systems </a:t>
            </a:r>
            <a:r>
              <a:rPr lang="en-US" sz="1400">
                <a:sym typeface="Wingdings" pitchFamily="2" charset="2"/>
              </a:rPr>
              <a:t> Middleware</a:t>
            </a:r>
            <a:endParaRPr lang="en-US" sz="1400"/>
          </a:p>
          <a:p>
            <a:pPr lvl="1"/>
            <a:r>
              <a:rPr lang="en-US" sz="1400"/>
              <a:t>Structured Programming</a:t>
            </a:r>
          </a:p>
          <a:p>
            <a:pPr lvl="2"/>
            <a:r>
              <a:rPr lang="en-US" sz="1400"/>
              <a:t>Procedures/Functions </a:t>
            </a:r>
            <a:r>
              <a:rPr lang="en-US" sz="1400">
                <a:sym typeface="Wingdings" pitchFamily="2" charset="2"/>
              </a:rPr>
              <a:t> Remote Procedure Calls (RPC)</a:t>
            </a:r>
            <a:endParaRPr lang="en-US" sz="1400"/>
          </a:p>
          <a:p>
            <a:pPr lvl="1"/>
            <a:r>
              <a:rPr lang="en-US" sz="1400"/>
              <a:t>Object-Oriented Design</a:t>
            </a:r>
          </a:p>
          <a:p>
            <a:pPr lvl="2"/>
            <a:r>
              <a:rPr lang="en-US" sz="1400"/>
              <a:t>Encapsulation/Information Hiding </a:t>
            </a:r>
            <a:r>
              <a:rPr lang="en-US" sz="1400">
                <a:sym typeface="Wingdings" pitchFamily="2" charset="2"/>
              </a:rPr>
              <a:t> Remote Objects/RMI</a:t>
            </a:r>
            <a:endParaRPr lang="en-US" sz="1400"/>
          </a:p>
          <a:p>
            <a:pPr lvl="1"/>
            <a:r>
              <a:rPr lang="en-US" sz="1400"/>
              <a:t>Uniformity and Simplicity</a:t>
            </a:r>
          </a:p>
          <a:p>
            <a:pPr lvl="2"/>
            <a:r>
              <a:rPr lang="en-US" sz="1400"/>
              <a:t>Resource-Based Systems: </a:t>
            </a:r>
            <a:r>
              <a:rPr lang="en-US" sz="1400">
                <a:sym typeface="Wingdings" pitchFamily="2" charset="2"/>
              </a:rPr>
              <a:t>RESTful APIs</a:t>
            </a:r>
          </a:p>
          <a:p>
            <a:pPr lvl="1"/>
            <a:r>
              <a:rPr lang="en-US" sz="1400">
                <a:sym typeface="Wingdings" pitchFamily="2" charset="2"/>
              </a:rPr>
              <a:t>Publish/Subscribe</a:t>
            </a:r>
            <a:endParaRPr lang="en-US" sz="1400"/>
          </a:p>
          <a:p>
            <a:r>
              <a:rPr lang="en-US" sz="1400"/>
              <a:t>And some new ones:</a:t>
            </a:r>
          </a:p>
          <a:p>
            <a:pPr lvl="1"/>
            <a:r>
              <a:rPr lang="en-US" sz="1400"/>
              <a:t>Service-Based Architectures</a:t>
            </a:r>
          </a:p>
          <a:p>
            <a:pPr lvl="1"/>
            <a:r>
              <a:rPr lang="en-US" sz="1400"/>
              <a:t>Network of Peers</a:t>
            </a:r>
          </a:p>
          <a:p>
            <a:pPr lvl="2"/>
            <a:r>
              <a:rPr lang="en-US" sz="1400"/>
              <a:t>Structured and Unstructured Peer-to-Peer Topologies</a:t>
            </a:r>
          </a:p>
        </p:txBody>
      </p:sp>
    </p:spTree>
    <p:extLst>
      <p:ext uri="{BB962C8B-B14F-4D97-AF65-F5344CB8AC3E}">
        <p14:creationId xmlns:p14="http://schemas.microsoft.com/office/powerpoint/2010/main" val="424181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Abstraction:</a:t>
            </a:r>
            <a:br>
              <a:rPr lang="en-US"/>
            </a:br>
            <a:r>
              <a:rPr lang="en-US"/>
              <a:t>Layered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/>
              <a:t>Break functionality into multiple layers</a:t>
            </a:r>
          </a:p>
          <a:p>
            <a:r>
              <a:rPr lang="en-US" sz="2800"/>
              <a:t>Each layer handles a specific abstraction</a:t>
            </a:r>
          </a:p>
          <a:p>
            <a:pPr lvl="1"/>
            <a:r>
              <a:rPr lang="en-US" sz="2400"/>
              <a:t>Hides implementation details and specifics of hardware, OS, network abstractions, data encoding …</a:t>
            </a:r>
          </a:p>
          <a:p>
            <a:pPr lvl="1"/>
            <a:endParaRPr lang="en-US" sz="240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657600"/>
            <a:ext cx="60960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2744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Abstraction:</a:t>
            </a:r>
            <a:br>
              <a:rPr lang="en-US"/>
            </a:br>
            <a:r>
              <a:rPr lang="en-US"/>
              <a:t>Tiered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Tiered (multi-tier) architectures</a:t>
            </a:r>
          </a:p>
          <a:p>
            <a:pPr lvl="1"/>
            <a:r>
              <a:rPr lang="en-US"/>
              <a:t>distributed systems analogy to a layered architecture</a:t>
            </a:r>
          </a:p>
          <a:p>
            <a:r>
              <a:rPr lang="en-US"/>
              <a:t>Each tier (layer)</a:t>
            </a:r>
          </a:p>
          <a:p>
            <a:pPr lvl="1"/>
            <a:r>
              <a:rPr lang="en-US"/>
              <a:t>Runs as a network service</a:t>
            </a:r>
          </a:p>
          <a:p>
            <a:pPr lvl="1"/>
            <a:r>
              <a:rPr lang="en-US"/>
              <a:t>Is accessed by surrounding layers</a:t>
            </a:r>
          </a:p>
          <a:p>
            <a:r>
              <a:rPr lang="en-US"/>
              <a:t>The classic client-server architecture is a two-tier model</a:t>
            </a:r>
          </a:p>
          <a:p>
            <a:pPr lvl="1"/>
            <a:r>
              <a:rPr lang="en-US"/>
              <a:t>Clients: typically responsible for user interaction</a:t>
            </a:r>
          </a:p>
          <a:p>
            <a:pPr lvl="1"/>
            <a:r>
              <a:rPr lang="en-US"/>
              <a:t>Servers: responsible for back-end services (data access, printing, ...)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44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Multi-Tier Example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47800"/>
            <a:ext cx="6477000" cy="2673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495800"/>
            <a:ext cx="7058025" cy="1535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6263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Multi-Tier Example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2571750"/>
            <a:ext cx="80581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7090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8331-A050-7045-B985-9241C13A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072" y="629268"/>
            <a:ext cx="4939868" cy="1286160"/>
          </a:xfrm>
        </p:spPr>
        <p:txBody>
          <a:bodyPr anchor="b">
            <a:normAutofit/>
          </a:bodyPr>
          <a:lstStyle/>
          <a:p>
            <a:r>
              <a:rPr lang="en-US"/>
              <a:t>Services</a:t>
            </a:r>
          </a:p>
        </p:txBody>
      </p:sp>
      <p:pic>
        <p:nvPicPr>
          <p:cNvPr id="5" name="Picture 4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0015308B-676D-0D4D-AB79-9AC339D389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559" r="28601" b="-1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2115117"/>
            <a:ext cx="47320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32597-49B8-FC49-9B58-716749F11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073" y="2438400"/>
            <a:ext cx="4939867" cy="3785419"/>
          </a:xfrm>
        </p:spPr>
        <p:txBody>
          <a:bodyPr>
            <a:normAutofit/>
          </a:bodyPr>
          <a:lstStyle/>
          <a:p>
            <a:r>
              <a:rPr lang="en-US" sz="1800"/>
              <a:t>This is called the </a:t>
            </a:r>
            <a:r>
              <a:rPr lang="en-US" sz="1800" b="1"/>
              <a:t>Client/Server Model</a:t>
            </a:r>
            <a:r>
              <a:rPr lang="en-US" sz="1800"/>
              <a:t>:</a:t>
            </a:r>
          </a:p>
          <a:p>
            <a:pPr lvl="1"/>
            <a:r>
              <a:rPr lang="en-US" sz="1200"/>
              <a:t>Many-to-One Topologies</a:t>
            </a:r>
          </a:p>
          <a:p>
            <a:pPr lvl="1"/>
            <a:r>
              <a:rPr lang="en-US" sz="1200"/>
              <a:t>Service-Based Architectures</a:t>
            </a:r>
          </a:p>
          <a:p>
            <a:r>
              <a:rPr lang="en-US" sz="1800"/>
              <a:t>Based on Role</a:t>
            </a:r>
          </a:p>
          <a:p>
            <a:pPr lvl="1"/>
            <a:r>
              <a:rPr lang="en-US" sz="1200"/>
              <a:t>Server listens and accepts many clients</a:t>
            </a:r>
          </a:p>
          <a:p>
            <a:pPr lvl="1"/>
            <a:r>
              <a:rPr lang="en-US" sz="1200"/>
              <a:t>Clients initiate requests and are served</a:t>
            </a:r>
          </a:p>
          <a:p>
            <a:pPr lvl="1"/>
            <a:r>
              <a:rPr lang="en-US" sz="1200"/>
              <a:t>Servers can in turn act as clients to other services; clients of one service can be servers of others</a:t>
            </a:r>
          </a:p>
          <a:p>
            <a:r>
              <a:rPr lang="en-US" sz="1800"/>
              <a:t>Nature of the Service</a:t>
            </a:r>
          </a:p>
          <a:p>
            <a:pPr lvl="1"/>
            <a:r>
              <a:rPr lang="en-US" sz="1200"/>
              <a:t>Data</a:t>
            </a:r>
          </a:p>
          <a:p>
            <a:pPr lvl="1"/>
            <a:r>
              <a:rPr lang="en-US" sz="1200"/>
              <a:t>Computation</a:t>
            </a:r>
          </a:p>
          <a:p>
            <a:pPr lvl="1"/>
            <a:r>
              <a:rPr lang="en-US" sz="1200"/>
              <a:t>Object</a:t>
            </a:r>
          </a:p>
          <a:p>
            <a:pPr lvl="1"/>
            <a:r>
              <a:rPr lang="en-US" sz="1200"/>
              <a:t>In general, any resource</a:t>
            </a:r>
          </a:p>
        </p:txBody>
      </p:sp>
    </p:spTree>
    <p:extLst>
      <p:ext uri="{BB962C8B-B14F-4D97-AF65-F5344CB8AC3E}">
        <p14:creationId xmlns:p14="http://schemas.microsoft.com/office/powerpoint/2010/main" val="1684475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Monolithic Centralized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No networking</a:t>
            </a:r>
          </a:p>
          <a:p>
            <a:r>
              <a:rPr lang="en-US"/>
              <a:t>Traditional time-shared system</a:t>
            </a:r>
          </a:p>
          <a:p>
            <a:r>
              <a:rPr lang="en-US"/>
              <a:t>Single workstation/PC or direct connection of multiple terminals to a computer</a:t>
            </a:r>
          </a:p>
          <a:p>
            <a:r>
              <a:rPr lang="en-US"/>
              <a:t>One or several CPUs</a:t>
            </a:r>
          </a:p>
          <a:p>
            <a:r>
              <a:rPr lang="en-US"/>
              <a:t>Not easily scalable</a:t>
            </a:r>
          </a:p>
          <a:p>
            <a:r>
              <a:rPr lang="en-US"/>
              <a:t>Limiting factors: # of CPUs in system</a:t>
            </a:r>
          </a:p>
          <a:p>
            <a:pPr lvl="1"/>
            <a:r>
              <a:rPr lang="en-US"/>
              <a:t>Contention for same resources (memory, network, devices)</a:t>
            </a:r>
          </a:p>
        </p:txBody>
      </p:sp>
    </p:spTree>
    <p:extLst>
      <p:ext uri="{BB962C8B-B14F-4D97-AF65-F5344CB8AC3E}">
        <p14:creationId xmlns:p14="http://schemas.microsoft.com/office/powerpoint/2010/main" val="95617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Client-Server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Clients send requests to servers</a:t>
            </a:r>
          </a:p>
          <a:p>
            <a:r>
              <a:rPr lang="en-US" sz="2400"/>
              <a:t>A server is a system that runs a service</a:t>
            </a:r>
          </a:p>
          <a:p>
            <a:r>
              <a:rPr lang="en-US" sz="2400"/>
              <a:t>The server is </a:t>
            </a:r>
            <a:r>
              <a:rPr lang="en-US" sz="2400">
                <a:solidFill>
                  <a:srgbClr val="C00000"/>
                </a:solidFill>
              </a:rPr>
              <a:t>always (?)</a:t>
            </a:r>
            <a:r>
              <a:rPr lang="en-US" sz="2400"/>
              <a:t> on and processes requests from clients</a:t>
            </a:r>
          </a:p>
          <a:p>
            <a:r>
              <a:rPr lang="en-US" sz="2400"/>
              <a:t>Clients do not communicate with other clients</a:t>
            </a:r>
          </a:p>
          <a:p>
            <a:r>
              <a:rPr lang="en-US" sz="2400"/>
              <a:t>E.g., FTP, email, web</a:t>
            </a:r>
          </a:p>
        </p:txBody>
      </p:sp>
      <p:pic>
        <p:nvPicPr>
          <p:cNvPr id="1026" name="Picture 2" descr="https://upload.wikimedia.org/wikipedia/commons/thumb/c/c9/Client-server-model.svg/500px-Client-server-model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977640"/>
            <a:ext cx="4229100" cy="2537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151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9F5C-49DA-5B4F-8E72-A9178F87E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Multi-tiered centralized system architectures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C76E78-F6B5-FC49-8DAB-A7870EFD7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34" y="1773263"/>
            <a:ext cx="6921500" cy="121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4A5A4E-96C1-4848-928D-12D39CD22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34" y="3124200"/>
            <a:ext cx="69088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370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83551" y="343486"/>
            <a:ext cx="8579094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0A2E0-6E59-144C-B8A4-D9291FB8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554" y="466578"/>
            <a:ext cx="8354891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Being client and server at the same time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7350" y="1448631"/>
            <a:ext cx="58293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56DBFF2-94F2-BF4F-BC48-4D3C7D021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" y="2988994"/>
            <a:ext cx="8622615" cy="303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238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8331-A050-7045-B985-9241C13A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072" y="629268"/>
            <a:ext cx="4939868" cy="1286160"/>
          </a:xfrm>
        </p:spPr>
        <p:txBody>
          <a:bodyPr anchor="b">
            <a:normAutofit/>
          </a:bodyPr>
          <a:lstStyle/>
          <a:p>
            <a:r>
              <a:rPr lang="en-US"/>
              <a:t>Peers</a:t>
            </a:r>
          </a:p>
        </p:txBody>
      </p:sp>
      <p:pic>
        <p:nvPicPr>
          <p:cNvPr id="5" name="Picture 4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0015308B-676D-0D4D-AB79-9AC339D389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559" r="28601" b="-1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10700" y="2115117"/>
            <a:ext cx="47320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32597-49B8-FC49-9B58-716749F11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4073" y="2438400"/>
            <a:ext cx="4939867" cy="3785419"/>
          </a:xfrm>
        </p:spPr>
        <p:txBody>
          <a:bodyPr>
            <a:normAutofit/>
          </a:bodyPr>
          <a:lstStyle/>
          <a:p>
            <a:r>
              <a:rPr lang="en-US" sz="2000"/>
              <a:t>Peer-to-Peer Model:</a:t>
            </a:r>
          </a:p>
          <a:p>
            <a:pPr lvl="1"/>
            <a:r>
              <a:rPr lang="en-US" sz="1400"/>
              <a:t>One-to-One Topologies</a:t>
            </a:r>
          </a:p>
          <a:p>
            <a:pPr lvl="1"/>
            <a:r>
              <a:rPr lang="en-US" sz="1400"/>
              <a:t>Overlay Networks</a:t>
            </a:r>
          </a:p>
          <a:p>
            <a:r>
              <a:rPr lang="en-US" sz="2000"/>
              <a:t>Structured Overlay Topologies</a:t>
            </a:r>
          </a:p>
          <a:p>
            <a:r>
              <a:rPr lang="en-US" sz="2000"/>
              <a:t>Unstructured Overlay Topologies</a:t>
            </a:r>
          </a:p>
          <a:p>
            <a:r>
              <a:rPr lang="en-US" sz="2000"/>
              <a:t>Hybrids</a:t>
            </a:r>
          </a:p>
          <a:p>
            <a:pPr lvl="1"/>
            <a:r>
              <a:rPr lang="en-US" sz="1400"/>
              <a:t>Combinations of Client/Server and Peer-to-Peer, and/or</a:t>
            </a:r>
          </a:p>
          <a:p>
            <a:pPr lvl="1"/>
            <a:r>
              <a:rPr lang="en-US" sz="1400"/>
              <a:t>Combinations of Structured/Unstructured Overlay Nets</a:t>
            </a:r>
          </a:p>
        </p:txBody>
      </p:sp>
    </p:spTree>
    <p:extLst>
      <p:ext uri="{BB962C8B-B14F-4D97-AF65-F5344CB8AC3E}">
        <p14:creationId xmlns:p14="http://schemas.microsoft.com/office/powerpoint/2010/main" val="391330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Peer-to-Peer (P2P)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153400" cy="4525963"/>
          </a:xfrm>
        </p:spPr>
        <p:txBody>
          <a:bodyPr>
            <a:normAutofit/>
          </a:bodyPr>
          <a:lstStyle/>
          <a:p>
            <a:r>
              <a:rPr lang="en-US" dirty="0"/>
              <a:t>No reliance on servers</a:t>
            </a:r>
          </a:p>
          <a:p>
            <a:r>
              <a:rPr lang="en-US" dirty="0"/>
              <a:t>Machines (peers) communicate with each other</a:t>
            </a:r>
          </a:p>
          <a:p>
            <a:r>
              <a:rPr lang="en-US" dirty="0"/>
              <a:t>Goals</a:t>
            </a:r>
          </a:p>
          <a:p>
            <a:pPr lvl="1"/>
            <a:r>
              <a:rPr lang="en-US" dirty="0"/>
              <a:t>Robustness </a:t>
            </a:r>
          </a:p>
          <a:p>
            <a:pPr lvl="2"/>
            <a:r>
              <a:rPr lang="en-US" dirty="0"/>
              <a:t>Expect that some systems may be down</a:t>
            </a:r>
          </a:p>
          <a:p>
            <a:pPr lvl="1"/>
            <a:r>
              <a:rPr lang="en-US" dirty="0"/>
              <a:t>Self-scalability</a:t>
            </a:r>
          </a:p>
          <a:p>
            <a:pPr lvl="2"/>
            <a:r>
              <a:rPr lang="en-US" dirty="0"/>
              <a:t>the system can handle greater workloads as more peers are added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BitTorrent, Skype, Chord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194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F0F33-E06B-7442-8D70-B127955B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Structured P2P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1918E-8F27-EF4C-9F5B-138831BA0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47800"/>
            <a:ext cx="7886700" cy="4351338"/>
          </a:xfrm>
        </p:spPr>
        <p:txBody>
          <a:bodyPr/>
          <a:lstStyle/>
          <a:p>
            <a:r>
              <a:rPr lang="en-US"/>
              <a:t>One idea is to make use of a semantic-free index: </a:t>
            </a:r>
          </a:p>
          <a:p>
            <a:pPr lvl="1"/>
            <a:r>
              <a:rPr lang="en-US"/>
              <a:t>each data item is uniquely associated with a key, in turn used as an index.</a:t>
            </a:r>
          </a:p>
          <a:p>
            <a:pPr lvl="1"/>
            <a:r>
              <a:rPr lang="en-US"/>
              <a:t>common practice: use a hash function, so implements a distributed hash table (DHT)</a:t>
            </a:r>
          </a:p>
          <a:p>
            <a:pPr marL="685800" lvl="2" indent="0">
              <a:buNone/>
            </a:pPr>
            <a:endParaRPr lang="en-US" i="1"/>
          </a:p>
          <a:p>
            <a:pPr marL="685800" lvl="2" indent="0">
              <a:buNone/>
            </a:pPr>
            <a:r>
              <a:rPr lang="en-US" i="1"/>
              <a:t>key(data item) = hash(data item’s value)</a:t>
            </a:r>
          </a:p>
          <a:p>
            <a:pPr marL="685800" lvl="2" indent="0">
              <a:buNone/>
            </a:pPr>
            <a:endParaRPr lang="en-US" i="1"/>
          </a:p>
          <a:p>
            <a:r>
              <a:rPr lang="en-US"/>
              <a:t>P2P system now responsible for storing </a:t>
            </a:r>
            <a:r>
              <a:rPr lang="en-US" i="1"/>
              <a:t>(key, value)</a:t>
            </a:r>
            <a:r>
              <a:rPr lang="en-US"/>
              <a:t> pairs.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7AA1A9-9491-9A4C-B353-46B9B2165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848816"/>
            <a:ext cx="69088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1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CF176-4798-0447-A6EC-37741BF2B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623392"/>
            <a:ext cx="2522980" cy="1607060"/>
          </a:xfrm>
          <a:noFill/>
          <a:ln w="19050">
            <a:solidFill>
              <a:schemeClr val="tx1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2400"/>
              <a:t>Example: Chord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2B0B3-DAF9-174F-8769-AB630D50D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1" y="2638043"/>
            <a:ext cx="2522980" cy="3415623"/>
          </a:xfrm>
        </p:spPr>
        <p:txBody>
          <a:bodyPr>
            <a:normAutofit/>
          </a:bodyPr>
          <a:lstStyle/>
          <a:p>
            <a:r>
              <a:rPr lang="en-US" sz="1400" dirty="0"/>
              <a:t>Nodes are logically organized in a ring. Each node has an m-bit identifier.</a:t>
            </a:r>
          </a:p>
          <a:p>
            <a:r>
              <a:rPr lang="en-US" sz="1400" dirty="0"/>
              <a:t>Each data item is hashed to an m-bit key.</a:t>
            </a:r>
          </a:p>
          <a:p>
            <a:r>
              <a:rPr lang="en-US" sz="1400" dirty="0"/>
              <a:t>Data item with key </a:t>
            </a:r>
            <a:r>
              <a:rPr lang="en-US" sz="1400" i="1" dirty="0"/>
              <a:t>k</a:t>
            </a:r>
            <a:r>
              <a:rPr lang="en-US" sz="1400" dirty="0"/>
              <a:t> is stored at node with smallest identifier </a:t>
            </a:r>
            <a:r>
              <a:rPr lang="en-US" sz="1400" i="1" dirty="0"/>
              <a:t>id ≧ k</a:t>
            </a:r>
            <a:r>
              <a:rPr lang="en-US" sz="1400" dirty="0"/>
              <a:t>, called the successor of key </a:t>
            </a:r>
            <a:r>
              <a:rPr lang="en-US" sz="1400" i="1" dirty="0"/>
              <a:t>k</a:t>
            </a:r>
            <a:r>
              <a:rPr lang="en-US" sz="1400" dirty="0"/>
              <a:t>.</a:t>
            </a:r>
          </a:p>
          <a:p>
            <a:r>
              <a:rPr lang="en-US" sz="1400" dirty="0"/>
              <a:t>The ring is extended with various shortcut links to other nodes.</a:t>
            </a:r>
          </a:p>
          <a:p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42D6CD-E114-C24D-B729-7877FE2B2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688" y="1600200"/>
            <a:ext cx="5401912" cy="346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23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D04F8-941C-1740-A667-DFA6B950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Unstructured P2P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C5559-B7D6-3340-B292-DA4F832D5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Each node maintains an ad hoc list of neighbors. </a:t>
            </a:r>
          </a:p>
          <a:p>
            <a:pPr lvl="1"/>
            <a:r>
              <a:rPr lang="en-US"/>
              <a:t>The resulting overlay resembles a random graph</a:t>
            </a:r>
          </a:p>
          <a:p>
            <a:r>
              <a:rPr lang="en-US"/>
              <a:t>Searching</a:t>
            </a:r>
          </a:p>
          <a:p>
            <a:pPr lvl="1"/>
            <a:r>
              <a:rPr lang="en-US"/>
              <a:t>Flooding</a:t>
            </a:r>
          </a:p>
          <a:p>
            <a:pPr lvl="2"/>
            <a:r>
              <a:rPr lang="en-US"/>
              <a:t>Issuing node passes request for d to all neighbors. </a:t>
            </a:r>
          </a:p>
          <a:p>
            <a:pPr lvl="2"/>
            <a:r>
              <a:rPr lang="en-US"/>
              <a:t>Request is ignored when receiving node had seen it before. </a:t>
            </a:r>
          </a:p>
          <a:p>
            <a:pPr lvl="2"/>
            <a:r>
              <a:rPr lang="en-US"/>
              <a:t>Otherwise, v searches locally for d (recursively). </a:t>
            </a:r>
          </a:p>
          <a:p>
            <a:pPr lvl="2"/>
            <a:r>
              <a:rPr lang="en-US"/>
              <a:t>May be limited by a Time-To-Live: a maximum number of hops</a:t>
            </a:r>
          </a:p>
          <a:p>
            <a:pPr lvl="1"/>
            <a:r>
              <a:rPr lang="en-US"/>
              <a:t>Random Walk</a:t>
            </a:r>
          </a:p>
          <a:p>
            <a:pPr lvl="2"/>
            <a:r>
              <a:rPr lang="en-US"/>
              <a:t>Issuing node u passes request for d to randomly chosen neighbor, v. </a:t>
            </a:r>
          </a:p>
          <a:p>
            <a:pPr lvl="2"/>
            <a:r>
              <a:rPr lang="en-US"/>
              <a:t>If v does not have d, it forwards request to one of its randomly chosen neighbors.</a:t>
            </a:r>
          </a:p>
          <a:p>
            <a:pPr lvl="2"/>
            <a:r>
              <a:rPr lang="en-US"/>
              <a:t>And so on.</a:t>
            </a:r>
          </a:p>
          <a:p>
            <a:pPr lvl="1"/>
            <a:r>
              <a:rPr lang="en-US"/>
              <a:t>Random walks are more communication efficient, but might take longer before they find the result</a:t>
            </a:r>
          </a:p>
          <a:p>
            <a:pPr lvl="1"/>
            <a:endParaRPr lang="en-US"/>
          </a:p>
          <a:p>
            <a:pPr lvl="2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1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Hybrid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Many P2P architectures still rely on servers</a:t>
            </a:r>
          </a:p>
          <a:p>
            <a:pPr lvl="1"/>
            <a:r>
              <a:rPr lang="en-US" sz="2000"/>
              <a:t>Look up, track users/peers</a:t>
            </a:r>
          </a:p>
          <a:p>
            <a:pPr lvl="1"/>
            <a:r>
              <a:rPr lang="en-US" sz="2000"/>
              <a:t>Track content</a:t>
            </a:r>
          </a:p>
          <a:p>
            <a:pPr lvl="1"/>
            <a:r>
              <a:rPr lang="en-US" sz="2000"/>
              <a:t>Coordinate access</a:t>
            </a:r>
          </a:p>
          <a:p>
            <a:r>
              <a:rPr lang="en-US" sz="2400"/>
              <a:t>But traffic-intensive workloads are delegated to peers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925" y="4038600"/>
            <a:ext cx="653415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585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BB98-F76E-1D45-AE92-9175F6994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Super-Peer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2F48F-AD02-9C4A-AC34-7336DC8ED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is sometimes sensible to break the symmetry in pure peer-to-peer networks</a:t>
            </a:r>
          </a:p>
          <a:p>
            <a:pPr lvl="1"/>
            <a:r>
              <a:rPr lang="en-US"/>
              <a:t>When searching in unstructured P2P systems, having index servers improves performance</a:t>
            </a:r>
          </a:p>
          <a:p>
            <a:pPr lvl="1"/>
            <a:r>
              <a:rPr lang="en-US"/>
              <a:t>Deciding where to store data can often be done more efficiently through brokers</a:t>
            </a:r>
          </a:p>
          <a:p>
            <a:pPr lvl="1"/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AA9621-370A-E642-B65E-432A7039E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317" y="3276600"/>
            <a:ext cx="599619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34A0F-6E61-5741-97D8-31E917798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Edge-Server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4CA0-3337-2849-8019-D2AAA30FE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Systems deployed on the Internet where servers are placed at the edge of the network</a:t>
            </a:r>
          </a:p>
          <a:p>
            <a:pPr lvl="1"/>
            <a:r>
              <a:rPr lang="en-US"/>
              <a:t>at the boundary between enterprise networks and the actual Internet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C0E5CB-178A-A34A-94DE-11A29C2EBB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047999"/>
            <a:ext cx="7524750" cy="286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5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Processor Pool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Collection of CPUs that can be assigned processes on demand</a:t>
            </a:r>
          </a:p>
          <a:p>
            <a:r>
              <a:rPr lang="en-US"/>
              <a:t>Render farms</a:t>
            </a:r>
          </a:p>
          <a:p>
            <a:endParaRPr lang="en-US"/>
          </a:p>
        </p:txBody>
      </p:sp>
      <p:pic>
        <p:nvPicPr>
          <p:cNvPr id="6146" name="Picture 2" descr="Distributed operating syste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505200"/>
            <a:ext cx="588174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90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>
            <a:normAutofit/>
          </a:bodyPr>
          <a:lstStyle/>
          <a:p>
            <a:r>
              <a:rPr lang="en-US"/>
              <a:t>Resources are provided as a network (Internet) service</a:t>
            </a:r>
          </a:p>
          <a:p>
            <a:pPr lvl="1"/>
            <a:r>
              <a:rPr lang="en-US"/>
              <a:t>Software as a Service (SaaS)</a:t>
            </a:r>
          </a:p>
          <a:p>
            <a:pPr lvl="2"/>
            <a:r>
              <a:rPr lang="en-US"/>
              <a:t>Remotely hosted software</a:t>
            </a:r>
          </a:p>
          <a:p>
            <a:pPr lvl="2"/>
            <a:r>
              <a:rPr lang="en-US"/>
              <a:t>Salesforce.com, Google Apps, Microsoft Office 365</a:t>
            </a:r>
          </a:p>
          <a:p>
            <a:pPr lvl="1"/>
            <a:r>
              <a:rPr lang="en-US"/>
              <a:t>Infrastructure as a Service (IaaS)</a:t>
            </a:r>
          </a:p>
          <a:p>
            <a:pPr lvl="2"/>
            <a:r>
              <a:rPr lang="en-US"/>
              <a:t>Compute + storage + networking</a:t>
            </a:r>
          </a:p>
          <a:p>
            <a:pPr lvl="2"/>
            <a:r>
              <a:rPr lang="en-US"/>
              <a:t>Microsoft Azure, Google Compute Engine, Amazon Web Services</a:t>
            </a:r>
          </a:p>
          <a:p>
            <a:pPr lvl="1"/>
            <a:r>
              <a:rPr lang="en-US"/>
              <a:t>Platform as a Service (PaaS)</a:t>
            </a:r>
          </a:p>
          <a:p>
            <a:pPr lvl="2"/>
            <a:r>
              <a:rPr lang="en-US"/>
              <a:t>Deploy &amp; run web applications without setting up the infrastructure</a:t>
            </a:r>
          </a:p>
          <a:p>
            <a:pPr lvl="2"/>
            <a:r>
              <a:rPr lang="en-US"/>
              <a:t>Google App Engine, AWS Elastic Beanstalk</a:t>
            </a:r>
          </a:p>
          <a:p>
            <a:pPr lvl="1"/>
            <a:r>
              <a:rPr lang="en-US"/>
              <a:t>Storage</a:t>
            </a:r>
          </a:p>
          <a:p>
            <a:pPr lvl="2"/>
            <a:r>
              <a:rPr lang="en-US"/>
              <a:t>Remote file storage</a:t>
            </a:r>
          </a:p>
          <a:p>
            <a:pPr lvl="2"/>
            <a:r>
              <a:rPr lang="en-US"/>
              <a:t>Dropbox, Box, Google Drive, OneDrive, ...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2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bject, chessman, indoor, mirror&#10;&#10;Description automatically generated">
            <a:extLst>
              <a:ext uri="{FF2B5EF4-FFF2-40B4-BE49-F238E27FC236}">
                <a16:creationId xmlns:a16="http://schemas.microsoft.com/office/drawing/2014/main" id="{AB7C6A24-DD42-4C87-876E-3C0A7A1DF5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334"/>
          <a:stretch/>
        </p:blipFill>
        <p:spPr>
          <a:xfrm>
            <a:off x="838200" y="0"/>
            <a:ext cx="8305800" cy="62293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06" y="5317240"/>
            <a:ext cx="840819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The End of Architectures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20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2281</Words>
  <Application>Microsoft Macintosh PowerPoint</Application>
  <PresentationFormat>On-screen Show (4:3)</PresentationFormat>
  <Paragraphs>386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Wingdings</vt:lpstr>
      <vt:lpstr>Office Theme</vt:lpstr>
      <vt:lpstr>Architectures</vt:lpstr>
      <vt:lpstr>Design Considerations in Distributed Systems</vt:lpstr>
      <vt:lpstr>[Design Criteria vs. Motivation]</vt:lpstr>
      <vt:lpstr>Design Criteria</vt:lpstr>
      <vt:lpstr>Design Criteria Ranking</vt:lpstr>
      <vt:lpstr>Design Criteria Ranking</vt:lpstr>
      <vt:lpstr>Criterion: Distribution Transparency</vt:lpstr>
      <vt:lpstr>Distribution Transparency Categories</vt:lpstr>
      <vt:lpstr>Degree of Transparency</vt:lpstr>
      <vt:lpstr>Degree of Transparency</vt:lpstr>
      <vt:lpstr>Criterion: Scalability</vt:lpstr>
      <vt:lpstr>Size Scalability</vt:lpstr>
      <vt:lpstr>Geographic Scalability</vt:lpstr>
      <vt:lpstr>Administrative Scalability</vt:lpstr>
      <vt:lpstr>Design Challenges</vt:lpstr>
      <vt:lpstr>Design Challenge: Pitfalls</vt:lpstr>
      <vt:lpstr>Design Challenge: Failures</vt:lpstr>
      <vt:lpstr>Handling Failures </vt:lpstr>
      <vt:lpstr>Failure Types</vt:lpstr>
      <vt:lpstr>Failure Types</vt:lpstr>
      <vt:lpstr>Failure Types</vt:lpstr>
      <vt:lpstr>Challenge: No Global Knowledge</vt:lpstr>
      <vt:lpstr>Local Knowledge</vt:lpstr>
      <vt:lpstr>Challenge: Security</vt:lpstr>
      <vt:lpstr>Distributed Architectures</vt:lpstr>
      <vt:lpstr>Tools</vt:lpstr>
      <vt:lpstr>Messaging Tools: IP</vt:lpstr>
      <vt:lpstr>Ideas</vt:lpstr>
      <vt:lpstr>Abstraction: Layered Architectures</vt:lpstr>
      <vt:lpstr>Abstraction: Tiered Architectures</vt:lpstr>
      <vt:lpstr>Multi-Tier Example</vt:lpstr>
      <vt:lpstr>Multi-Tier Example</vt:lpstr>
      <vt:lpstr>Services</vt:lpstr>
      <vt:lpstr>Monolithic Centralized Model</vt:lpstr>
      <vt:lpstr>Client-Server Model</vt:lpstr>
      <vt:lpstr>Multi-tiered centralized system architectures</vt:lpstr>
      <vt:lpstr>Being client and server at the same time</vt:lpstr>
      <vt:lpstr>Peers</vt:lpstr>
      <vt:lpstr>Peer-to-Peer (P2P) Models</vt:lpstr>
      <vt:lpstr>Structured P2P</vt:lpstr>
      <vt:lpstr>Example: Chord</vt:lpstr>
      <vt:lpstr>Unstructured P2P</vt:lpstr>
      <vt:lpstr>Hybrid Models</vt:lpstr>
      <vt:lpstr>Super-Peer Networks</vt:lpstr>
      <vt:lpstr>Edge-Server Architecture</vt:lpstr>
      <vt:lpstr>Processor Pool Model</vt:lpstr>
      <vt:lpstr>Cloud Computing</vt:lpstr>
      <vt:lpstr>The End of Architectures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</dc:title>
  <dc:creator>Kevin Lundeen</dc:creator>
  <cp:lastModifiedBy>Kevin Lundeen</cp:lastModifiedBy>
  <cp:revision>3</cp:revision>
  <dcterms:created xsi:type="dcterms:W3CDTF">2019-10-01T22:09:42Z</dcterms:created>
  <dcterms:modified xsi:type="dcterms:W3CDTF">2024-10-01T22:32:20Z</dcterms:modified>
</cp:coreProperties>
</file>