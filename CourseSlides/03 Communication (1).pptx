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7" r:id="rId1"/>
  </p:sldMasterIdLst>
  <p:notesMasterIdLst>
    <p:notesMasterId r:id="rId37"/>
  </p:notesMasterIdLst>
  <p:sldIdLst>
    <p:sldId id="334" r:id="rId2"/>
    <p:sldId id="335" r:id="rId3"/>
    <p:sldId id="351" r:id="rId4"/>
    <p:sldId id="352" r:id="rId5"/>
    <p:sldId id="353" r:id="rId6"/>
    <p:sldId id="354" r:id="rId7"/>
    <p:sldId id="355" r:id="rId8"/>
    <p:sldId id="356" r:id="rId9"/>
    <p:sldId id="350" r:id="rId10"/>
    <p:sldId id="359" r:id="rId11"/>
    <p:sldId id="360" r:id="rId12"/>
    <p:sldId id="361" r:id="rId13"/>
    <p:sldId id="362" r:id="rId14"/>
    <p:sldId id="257" r:id="rId15"/>
    <p:sldId id="260" r:id="rId16"/>
    <p:sldId id="261" r:id="rId17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2" r:id="rId27"/>
    <p:sldId id="290" r:id="rId28"/>
    <p:sldId id="292" r:id="rId29"/>
    <p:sldId id="293" r:id="rId30"/>
    <p:sldId id="294" r:id="rId31"/>
    <p:sldId id="295" r:id="rId32"/>
    <p:sldId id="296" r:id="rId33"/>
    <p:sldId id="297" r:id="rId34"/>
    <p:sldId id="363" r:id="rId35"/>
    <p:sldId id="30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830"/>
  </p:normalViewPr>
  <p:slideViewPr>
    <p:cSldViewPr snapToGrid="0">
      <p:cViewPr varScale="1">
        <p:scale>
          <a:sx n="117" d="100"/>
          <a:sy n="117" d="100"/>
        </p:scale>
        <p:origin x="192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ndeen, Kevin" userId="f41f08b3-201c-4bb1-b063-613ae9b71acc" providerId="ADAL" clId="{DC01084B-11A8-BF45-98FD-754C45A5815C}"/>
    <pc:docChg chg="undo custSel modSld">
      <pc:chgData name="Lundeen, Kevin" userId="f41f08b3-201c-4bb1-b063-613ae9b71acc" providerId="ADAL" clId="{DC01084B-11A8-BF45-98FD-754C45A5815C}" dt="2020-09-22T03:34:36.592" v="1" actId="1076"/>
      <pc:docMkLst>
        <pc:docMk/>
      </pc:docMkLst>
      <pc:sldChg chg="modSp">
        <pc:chgData name="Lundeen, Kevin" userId="f41f08b3-201c-4bb1-b063-613ae9b71acc" providerId="ADAL" clId="{DC01084B-11A8-BF45-98FD-754C45A5815C}" dt="2020-09-22T03:34:36.592" v="1" actId="1076"/>
        <pc:sldMkLst>
          <pc:docMk/>
          <pc:sldMk cId="1648188410" sldId="335"/>
        </pc:sldMkLst>
        <pc:picChg chg="mod">
          <ac:chgData name="Lundeen, Kevin" userId="f41f08b3-201c-4bb1-b063-613ae9b71acc" providerId="ADAL" clId="{DC01084B-11A8-BF45-98FD-754C45A5815C}" dt="2020-09-22T03:34:36.592" v="1" actId="1076"/>
          <ac:picMkLst>
            <pc:docMk/>
            <pc:sldMk cId="1648188410" sldId="335"/>
            <ac:picMk id="6" creationId="{8FB86CFC-3F17-3946-B972-9D504FAAB56F}"/>
          </ac:picMkLst>
        </pc:picChg>
      </pc:sldChg>
    </pc:docChg>
  </pc:docChgLst>
  <pc:docChgLst>
    <pc:chgData name="Kevin Lundeen" userId="f41f08b3-201c-4bb1-b063-613ae9b71acc" providerId="ADAL" clId="{A7CF27B1-87DB-9348-A12D-A686B0B1001A}"/>
    <pc:docChg chg="delSld modSld">
      <pc:chgData name="Kevin Lundeen" userId="f41f08b3-201c-4bb1-b063-613ae9b71acc" providerId="ADAL" clId="{A7CF27B1-87DB-9348-A12D-A686B0B1001A}" dt="2023-10-05T18:16:40.118" v="5" actId="2696"/>
      <pc:docMkLst>
        <pc:docMk/>
      </pc:docMkLst>
      <pc:sldChg chg="modSp mod">
        <pc:chgData name="Kevin Lundeen" userId="f41f08b3-201c-4bb1-b063-613ae9b71acc" providerId="ADAL" clId="{A7CF27B1-87DB-9348-A12D-A686B0B1001A}" dt="2023-10-05T18:08:15.219" v="2" actId="1076"/>
        <pc:sldMkLst>
          <pc:docMk/>
          <pc:sldMk cId="269456005" sldId="334"/>
        </pc:sldMkLst>
        <pc:spChg chg="mod">
          <ac:chgData name="Kevin Lundeen" userId="f41f08b3-201c-4bb1-b063-613ae9b71acc" providerId="ADAL" clId="{A7CF27B1-87DB-9348-A12D-A686B0B1001A}" dt="2023-10-05T18:08:13.591" v="1" actId="20577"/>
          <ac:spMkLst>
            <pc:docMk/>
            <pc:sldMk cId="269456005" sldId="334"/>
            <ac:spMk id="3" creationId="{52B60FF8-14AE-6741-8C87-E333D1B97E12}"/>
          </ac:spMkLst>
        </pc:spChg>
        <pc:picChg chg="mod">
          <ac:chgData name="Kevin Lundeen" userId="f41f08b3-201c-4bb1-b063-613ae9b71acc" providerId="ADAL" clId="{A7CF27B1-87DB-9348-A12D-A686B0B1001A}" dt="2023-10-05T18:08:15.219" v="2" actId="1076"/>
          <ac:picMkLst>
            <pc:docMk/>
            <pc:sldMk cId="269456005" sldId="334"/>
            <ac:picMk id="5" creationId="{EC78C92D-5F29-544D-93CF-4ECAA6BCC574}"/>
          </ac:picMkLst>
        </pc:picChg>
      </pc:sldChg>
      <pc:sldChg chg="modSp mod">
        <pc:chgData name="Kevin Lundeen" userId="f41f08b3-201c-4bb1-b063-613ae9b71acc" providerId="ADAL" clId="{A7CF27B1-87DB-9348-A12D-A686B0B1001A}" dt="2023-10-05T18:16:24.887" v="3" actId="20577"/>
        <pc:sldMkLst>
          <pc:docMk/>
          <pc:sldMk cId="1648188410" sldId="335"/>
        </pc:sldMkLst>
        <pc:spChg chg="mod">
          <ac:chgData name="Kevin Lundeen" userId="f41f08b3-201c-4bb1-b063-613ae9b71acc" providerId="ADAL" clId="{A7CF27B1-87DB-9348-A12D-A686B0B1001A}" dt="2023-10-05T18:16:24.887" v="3" actId="20577"/>
          <ac:spMkLst>
            <pc:docMk/>
            <pc:sldMk cId="1648188410" sldId="335"/>
            <ac:spMk id="3" creationId="{A078B717-D053-1545-A0D9-653F8944BC59}"/>
          </ac:spMkLst>
        </pc:spChg>
      </pc:sldChg>
      <pc:sldChg chg="del">
        <pc:chgData name="Kevin Lundeen" userId="f41f08b3-201c-4bb1-b063-613ae9b71acc" providerId="ADAL" clId="{A7CF27B1-87DB-9348-A12D-A686B0B1001A}" dt="2023-10-05T18:16:39.119" v="4" actId="2696"/>
        <pc:sldMkLst>
          <pc:docMk/>
          <pc:sldMk cId="1739069560" sldId="357"/>
        </pc:sldMkLst>
      </pc:sldChg>
      <pc:sldChg chg="del">
        <pc:chgData name="Kevin Lundeen" userId="f41f08b3-201c-4bb1-b063-613ae9b71acc" providerId="ADAL" clId="{A7CF27B1-87DB-9348-A12D-A686B0B1001A}" dt="2023-10-05T18:16:40.118" v="5" actId="2696"/>
        <pc:sldMkLst>
          <pc:docMk/>
          <pc:sldMk cId="831519928" sldId="358"/>
        </pc:sldMkLst>
      </pc:sldChg>
    </pc:docChg>
  </pc:docChgLst>
  <pc:docChgLst>
    <pc:chgData name="Lundeen, Kevin" userId="f41f08b3-201c-4bb1-b063-613ae9b71acc" providerId="ADAL" clId="{61450786-65A0-744B-99AE-EDC6614A3407}"/>
    <pc:docChg chg="modSld">
      <pc:chgData name="Lundeen, Kevin" userId="f41f08b3-201c-4bb1-b063-613ae9b71acc" providerId="ADAL" clId="{61450786-65A0-744B-99AE-EDC6614A3407}" dt="2022-10-04T19:22:07.535" v="1" actId="20577"/>
      <pc:docMkLst>
        <pc:docMk/>
      </pc:docMkLst>
      <pc:sldChg chg="modSp mod">
        <pc:chgData name="Lundeen, Kevin" userId="f41f08b3-201c-4bb1-b063-613ae9b71acc" providerId="ADAL" clId="{61450786-65A0-744B-99AE-EDC6614A3407}" dt="2022-10-04T19:22:07.535" v="1" actId="20577"/>
        <pc:sldMkLst>
          <pc:docMk/>
          <pc:sldMk cId="269456005" sldId="334"/>
        </pc:sldMkLst>
        <pc:spChg chg="mod">
          <ac:chgData name="Lundeen, Kevin" userId="f41f08b3-201c-4bb1-b063-613ae9b71acc" providerId="ADAL" clId="{61450786-65A0-744B-99AE-EDC6614A3407}" dt="2022-10-04T19:22:07.535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1FA20745-EDC7-7B44-80CD-3C87197B08D2}"/>
    <pc:docChg chg="modSld">
      <pc:chgData name="Lundeen, Kevin" userId="f41f08b3-201c-4bb1-b063-613ae9b71acc" providerId="ADAL" clId="{1FA20745-EDC7-7B44-80CD-3C87197B08D2}" dt="2020-09-24T18:08:32.133" v="113" actId="20577"/>
      <pc:docMkLst>
        <pc:docMk/>
      </pc:docMkLst>
      <pc:sldChg chg="modSp modAnim">
        <pc:chgData name="Lundeen, Kevin" userId="f41f08b3-201c-4bb1-b063-613ae9b71acc" providerId="ADAL" clId="{1FA20745-EDC7-7B44-80CD-3C87197B08D2}" dt="2020-09-24T18:04:29.795" v="74" actId="20577"/>
        <pc:sldMkLst>
          <pc:docMk/>
          <pc:sldMk cId="3455242586" sldId="290"/>
        </pc:sldMkLst>
        <pc:spChg chg="mod">
          <ac:chgData name="Lundeen, Kevin" userId="f41f08b3-201c-4bb1-b063-613ae9b71acc" providerId="ADAL" clId="{1FA20745-EDC7-7B44-80CD-3C87197B08D2}" dt="2020-09-24T18:04:29.795" v="74" actId="20577"/>
          <ac:spMkLst>
            <pc:docMk/>
            <pc:sldMk cId="3455242586" sldId="290"/>
            <ac:spMk id="3" creationId="{00000000-0000-0000-0000-000000000000}"/>
          </ac:spMkLst>
        </pc:spChg>
      </pc:sldChg>
      <pc:sldChg chg="modSp mod">
        <pc:chgData name="Lundeen, Kevin" userId="f41f08b3-201c-4bb1-b063-613ae9b71acc" providerId="ADAL" clId="{1FA20745-EDC7-7B44-80CD-3C87197B08D2}" dt="2020-09-24T18:07:17.372" v="96" actId="20577"/>
        <pc:sldMkLst>
          <pc:docMk/>
          <pc:sldMk cId="3405038168" sldId="296"/>
        </pc:sldMkLst>
        <pc:spChg chg="mod">
          <ac:chgData name="Lundeen, Kevin" userId="f41f08b3-201c-4bb1-b063-613ae9b71acc" providerId="ADAL" clId="{1FA20745-EDC7-7B44-80CD-3C87197B08D2}" dt="2020-09-24T18:07:17.372" v="96" actId="20577"/>
          <ac:spMkLst>
            <pc:docMk/>
            <pc:sldMk cId="3405038168" sldId="296"/>
            <ac:spMk id="3" creationId="{00000000-0000-0000-0000-000000000000}"/>
          </ac:spMkLst>
        </pc:spChg>
      </pc:sldChg>
      <pc:sldChg chg="modSp mod">
        <pc:chgData name="Lundeen, Kevin" userId="f41f08b3-201c-4bb1-b063-613ae9b71acc" providerId="ADAL" clId="{1FA20745-EDC7-7B44-80CD-3C87197B08D2}" dt="2020-09-24T18:08:32.133" v="113" actId="20577"/>
        <pc:sldMkLst>
          <pc:docMk/>
          <pc:sldMk cId="56020515" sldId="309"/>
        </pc:sldMkLst>
        <pc:spChg chg="mod">
          <ac:chgData name="Lundeen, Kevin" userId="f41f08b3-201c-4bb1-b063-613ae9b71acc" providerId="ADAL" clId="{1FA20745-EDC7-7B44-80CD-3C87197B08D2}" dt="2020-09-24T18:08:32.133" v="113" actId="20577"/>
          <ac:spMkLst>
            <pc:docMk/>
            <pc:sldMk cId="56020515" sldId="309"/>
            <ac:spMk id="2" creationId="{00000000-0000-0000-0000-000000000000}"/>
          </ac:spMkLst>
        </pc:spChg>
      </pc:sldChg>
      <pc:sldChg chg="modSp mod">
        <pc:chgData name="Lundeen, Kevin" userId="f41f08b3-201c-4bb1-b063-613ae9b71acc" providerId="ADAL" clId="{1FA20745-EDC7-7B44-80CD-3C87197B08D2}" dt="2020-09-18T18:25:27.314" v="50" actId="14100"/>
        <pc:sldMkLst>
          <pc:docMk/>
          <pc:sldMk cId="269456005" sldId="334"/>
        </pc:sldMkLst>
        <pc:spChg chg="mod">
          <ac:chgData name="Lundeen, Kevin" userId="f41f08b3-201c-4bb1-b063-613ae9b71acc" providerId="ADAL" clId="{1FA20745-EDC7-7B44-80CD-3C87197B08D2}" dt="2020-09-18T18:25:27.314" v="50" actId="14100"/>
          <ac:spMkLst>
            <pc:docMk/>
            <pc:sldMk cId="269456005" sldId="334"/>
            <ac:spMk id="2" creationId="{F1C7814C-87BF-C744-8C79-F2083188C69B}"/>
          </ac:spMkLst>
        </pc:spChg>
        <pc:spChg chg="mod">
          <ac:chgData name="Lundeen, Kevin" userId="f41f08b3-201c-4bb1-b063-613ae9b71acc" providerId="ADAL" clId="{1FA20745-EDC7-7B44-80CD-3C87197B08D2}" dt="2020-09-18T18:25:08.899" v="35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  <pc:docChgLst>
    <pc:chgData name="Lundeen, Kevin" userId="f41f08b3-201c-4bb1-b063-613ae9b71acc" providerId="ADAL" clId="{E09294F4-6555-FC43-8797-1CCAF93EEE2C}"/>
    <pc:docChg chg="modSld">
      <pc:chgData name="Lundeen, Kevin" userId="f41f08b3-201c-4bb1-b063-613ae9b71acc" providerId="ADAL" clId="{E09294F4-6555-FC43-8797-1CCAF93EEE2C}" dt="2021-09-22T00:01:11.202" v="1" actId="20577"/>
      <pc:docMkLst>
        <pc:docMk/>
      </pc:docMkLst>
      <pc:sldChg chg="modSp mod">
        <pc:chgData name="Lundeen, Kevin" userId="f41f08b3-201c-4bb1-b063-613ae9b71acc" providerId="ADAL" clId="{E09294F4-6555-FC43-8797-1CCAF93EEE2C}" dt="2021-09-22T00:01:11.202" v="1" actId="20577"/>
        <pc:sldMkLst>
          <pc:docMk/>
          <pc:sldMk cId="269456005" sldId="334"/>
        </pc:sldMkLst>
        <pc:spChg chg="mod">
          <ac:chgData name="Lundeen, Kevin" userId="f41f08b3-201c-4bb1-b063-613ae9b71acc" providerId="ADAL" clId="{E09294F4-6555-FC43-8797-1CCAF93EEE2C}" dt="2021-09-22T00:01:11.202" v="1" actId="20577"/>
          <ac:spMkLst>
            <pc:docMk/>
            <pc:sldMk cId="269456005" sldId="334"/>
            <ac:spMk id="3" creationId="{52B60FF8-14AE-6741-8C87-E333D1B97E1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0583A-12EA-486A-A884-516D3CA299A2}" type="datetimeFigureOut">
              <a:rPr lang="en-US" smtClean="0"/>
              <a:t>10/10/24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C37616-A5EF-4910-84DD-04C521447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760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08310-C543-4E60-ACBA-644066492857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39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08310-C543-4E60-ACBA-644066492857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18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08310-C543-4E60-ACBA-644066492857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8819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A108310-C543-4E60-ACBA-644066492857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6117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AFEE7-433D-794B-9484-178E306242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C1849-16E5-824D-816A-1143CD185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17200-57FB-E241-9F2E-F799380E6B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793267-0B28-E34A-975B-4FC5818E68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327C49-CDCB-4C4E-88D3-E9C2FF8A1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5895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FE80F-C613-2E44-B038-0688AC8E0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7213B-42FC-B242-82F9-2BF3B235B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A27387-6CED-8042-BD41-0BC102E07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2BBD1C-04F5-2845-9507-99D19BF1F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7B5F5-293B-5D49-9671-FDD773AD3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7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CD69D-F70E-0148-B2BA-1DFA6A8691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6EB40C-667C-BC4A-89BF-FA76E04AC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14CD10-A180-B949-AB81-8AC818C201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5BA4C-101A-A446-8147-95879A86E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A5C33-BF1A-4848-A925-30C44C47D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108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74199D-4319-214C-B0D8-8192E07C2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665C6-1FF6-2742-82FF-910342A3F5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542D5A-AC38-5E4E-8A18-A01416726A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B36A3A-DFEB-2448-B34C-4074CD69B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91DD5D-1B2C-F44B-ACBA-9BE591D5E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17E13-7DE1-904F-9CF1-8864368BD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984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548635-9F98-9F4F-8EC1-657E3012D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A1FFED-BEB9-D946-8AA2-836CA8EE7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58A0B-0AE0-764C-8975-1CC340D91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00041E-D2EE-EC40-B7F4-AE33495D27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9218B-67E2-474B-9B21-C1158D4366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E8F2EB-8D6E-4B40-9E77-C8C13DE30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8906CA-ADB3-D544-AB2F-FCB4C018EC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1D6AED-B856-8E4C-9D86-E637E982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298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F0AEB-5498-CB4B-BC4E-B72DEAAE8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E9B5CB-0481-0348-AD69-589E45EF8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255DE6-22CD-A54F-BC8F-8499B7093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9EA196-A653-4445-B811-5803697DA3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352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CCE8FE-0CB3-9247-A4E7-D47549472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4CBA9D-A85D-9E40-8FE4-C93068EB16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3B12A-7AF4-1343-A8AF-50571D08D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557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8E4DD8-93D9-D741-AB70-F5FB5656F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BBD1FB-70E1-3448-BB9A-D252A92AB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C1A54F-BFBA-3149-9AA6-2A92495ECB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12F96B-CC14-604F-957F-755206D93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912D60-ACD4-4B43-9FED-14ABB369C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1816AE-F982-034F-9229-39371C912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339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83EDC6-7327-7A4E-B35F-4C0A01BCB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74A3AA-427A-D348-9ABA-D24E6D31AE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1CF812-357B-8941-93E5-BD21982E1B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87C3C-E9DC-D54A-BE2B-22CBFBF3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36497F-FDD0-EB4C-86FE-B38F21B46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7396FC-842A-8D4E-A9C4-406AD7110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590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0F63FF-E40B-3445-AE3D-D10AE916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0F9D13-621D-6245-A4A8-E8CC82EB33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3BE391-A425-E54C-A721-0426B8D99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F8BCD7-8572-F346-88C3-220089308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4779CE-23CF-9843-B8CA-D87ACECB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0306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C23A27-BACF-364E-BF5C-D03415DD0E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1D0F49-F222-8141-9030-9D08AFEDF9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69D9CD-EF97-8D4E-B901-B5B03AE64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0DFE9-FD1A-954B-8759-046407E0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7552FA-DAB3-5141-97D5-8B964F581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297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D7A9C-8918-A740-8018-EF071A295E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67CE27-6B72-BC48-BB06-88D5182EAC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A09D8-0295-BD43-A6FC-7699724D01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67297-5DC6-AF41-82D9-D305CB62CB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DBB349-CDE9-8548-8D0C-022975C7D4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36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20EB187-900F-4AF5-813B-101456D9FD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EC78C92D-5F29-544D-93CF-4ECAA6BCC57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2"/>
          <a:stretch/>
        </p:blipFill>
        <p:spPr>
          <a:xfrm>
            <a:off x="0" y="315687"/>
            <a:ext cx="9143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1C7814C-87BF-C744-8C79-F2083188C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6862" y="1200152"/>
            <a:ext cx="5987137" cy="4457696"/>
          </a:xfrm>
        </p:spPr>
        <p:txBody>
          <a:bodyPr anchor="ctr">
            <a:normAutofit/>
          </a:bodyPr>
          <a:lstStyle/>
          <a:p>
            <a:pPr algn="l"/>
            <a:r>
              <a:rPr lang="en-US" sz="7000" dirty="0">
                <a:solidFill>
                  <a:srgbClr val="FFFFFF"/>
                </a:solidFill>
              </a:rPr>
              <a:t>Communication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B60FF8-14AE-6741-8C87-E333D1B97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2" y="1200152"/>
            <a:ext cx="2216472" cy="4457696"/>
          </a:xfrm>
        </p:spPr>
        <p:txBody>
          <a:bodyPr anchor="ctr">
            <a:normAutofit/>
          </a:bodyPr>
          <a:lstStyle/>
          <a:p>
            <a:pPr algn="r"/>
            <a:r>
              <a:rPr lang="en-US" sz="2400" dirty="0">
                <a:solidFill>
                  <a:srgbClr val="FFFFFF"/>
                </a:solidFill>
              </a:rPr>
              <a:t>Distributed</a:t>
            </a:r>
            <a:br>
              <a:rPr lang="en-US" sz="2400" dirty="0">
                <a:solidFill>
                  <a:srgbClr val="FFFFFF"/>
                </a:solidFill>
              </a:rPr>
            </a:br>
            <a:r>
              <a:rPr lang="en-US" sz="2400" dirty="0">
                <a:solidFill>
                  <a:srgbClr val="FFFFFF"/>
                </a:solidFill>
              </a:rPr>
              <a:t>Systems</a:t>
            </a:r>
          </a:p>
          <a:p>
            <a:pPr algn="r"/>
            <a:r>
              <a:rPr lang="en-US" sz="2400" dirty="0">
                <a:solidFill>
                  <a:srgbClr val="FFFFFF"/>
                </a:solidFill>
              </a:rPr>
              <a:t>CPSC 5520</a:t>
            </a:r>
          </a:p>
          <a:p>
            <a:pPr algn="r"/>
            <a:r>
              <a:rPr lang="en-US" sz="2400" dirty="0">
                <a:solidFill>
                  <a:srgbClr val="FFFFFF"/>
                </a:solidFill>
              </a:rPr>
              <a:t>Kevin Lundeen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24D17C8-E9C2-48A4-AA36-D7048A6CCC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1918" y="2286000"/>
            <a:ext cx="0" cy="228600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4560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882442" y="2714171"/>
            <a:ext cx="4261558" cy="4150119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708" y="3734093"/>
            <a:ext cx="3709553" cy="13755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Processes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8B717-D053-1545-A0D9-653F8944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637" y="5243376"/>
            <a:ext cx="3247697" cy="928824"/>
          </a:xfrm>
        </p:spPr>
        <p:txBody>
          <a:bodyPr vert="horz" lIns="91440" tIns="45720" rIns="91440" bIns="45720" numCol="2" rtlCol="0">
            <a:normAutofit fontScale="92500" lnSpcReduction="20000"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175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Threads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dirty="0">
                <a:solidFill>
                  <a:schemeClr val="tx1"/>
                </a:solidFill>
              </a:rPr>
              <a:t>Virtualization</a:t>
            </a:r>
            <a:endParaRPr lang="en-US" sz="175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defTabSz="914400">
              <a:spcBef>
                <a:spcPts val="1000"/>
              </a:spcBef>
            </a:pPr>
            <a:endParaRPr lang="en-US" sz="175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algn="ctr" defTabSz="914400">
              <a:spcBef>
                <a:spcPts val="1000"/>
              </a:spcBef>
            </a:pPr>
            <a:r>
              <a:rPr lang="en-US" sz="175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Clients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dirty="0">
                <a:solidFill>
                  <a:schemeClr val="tx1"/>
                </a:solidFill>
              </a:rPr>
              <a:t>Servers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10703" y="5154215"/>
            <a:ext cx="701565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8188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9505A04-BBE0-DF4F-BD36-2B3BB2559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Threads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309768B-559D-E344-A751-B03BA4A77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517715"/>
            <a:ext cx="7886700" cy="4659248"/>
          </a:xfrm>
        </p:spPr>
        <p:txBody>
          <a:bodyPr>
            <a:normAutofit/>
          </a:bodyPr>
          <a:lstStyle/>
          <a:p>
            <a:r>
              <a:rPr lang="en-US" dirty="0"/>
              <a:t>Threads use shared-memory for communication</a:t>
            </a:r>
          </a:p>
          <a:p>
            <a:pPr lvl="1"/>
            <a:r>
              <a:rPr lang="en-US" dirty="0"/>
              <a:t>Locks are used to limit critical-section access to shared data structures</a:t>
            </a:r>
          </a:p>
          <a:p>
            <a:r>
              <a:rPr lang="en-US" dirty="0"/>
              <a:t>Threads are commonly used in client/server architectures</a:t>
            </a:r>
          </a:p>
          <a:p>
            <a:r>
              <a:rPr lang="en-US" dirty="0"/>
              <a:t>Client</a:t>
            </a:r>
          </a:p>
          <a:p>
            <a:pPr lvl="1"/>
            <a:r>
              <a:rPr lang="en-US" dirty="0"/>
              <a:t>Hiding network latency – asynchronous I/O</a:t>
            </a:r>
          </a:p>
          <a:p>
            <a:pPr lvl="2"/>
            <a:r>
              <a:rPr lang="en-US" dirty="0"/>
              <a:t>If multiple server conversations, can provide linear speed-up</a:t>
            </a:r>
          </a:p>
          <a:p>
            <a:pPr lvl="1"/>
            <a:r>
              <a:rPr lang="en-US" dirty="0"/>
              <a:t>Example: web browser</a:t>
            </a:r>
          </a:p>
          <a:p>
            <a:pPr lvl="2"/>
            <a:r>
              <a:rPr lang="en-US" dirty="0"/>
              <a:t>Browser scans an incoming HTML page, finds that more files need to be fetched</a:t>
            </a:r>
          </a:p>
          <a:p>
            <a:pPr lvl="2"/>
            <a:r>
              <a:rPr lang="en-US" dirty="0"/>
              <a:t>Each file is fetched on a separate thread, each doing a blocking HTTP request</a:t>
            </a:r>
          </a:p>
          <a:p>
            <a:pPr lvl="2"/>
            <a:r>
              <a:rPr lang="en-US" dirty="0"/>
              <a:t>As files come into each of the threads, the browser displays them</a:t>
            </a:r>
          </a:p>
          <a:p>
            <a:r>
              <a:rPr lang="en-US" dirty="0"/>
              <a:t>Server</a:t>
            </a:r>
          </a:p>
          <a:p>
            <a:pPr lvl="1"/>
            <a:r>
              <a:rPr lang="en-US" dirty="0"/>
              <a:t>Starts a new thread for every new incoming connection</a:t>
            </a:r>
          </a:p>
          <a:p>
            <a:pPr lvl="1"/>
            <a:r>
              <a:rPr lang="en-US" dirty="0"/>
              <a:t>So, like multi-threaded clients, hides network latency</a:t>
            </a:r>
          </a:p>
          <a:p>
            <a:pPr lvl="2"/>
            <a:r>
              <a:rPr lang="en-US" dirty="0"/>
              <a:t>Each thread uses easy-to-program blocking I/O</a:t>
            </a:r>
          </a:p>
        </p:txBody>
      </p:sp>
    </p:spTree>
    <p:extLst>
      <p:ext uri="{BB962C8B-B14F-4D97-AF65-F5344CB8AC3E}">
        <p14:creationId xmlns:p14="http://schemas.microsoft.com/office/powerpoint/2010/main" val="658542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098E4-5024-1740-8BA4-E3C855E8C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Virtualization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C4699-26E7-174D-99F0-E50E3459F3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Virtualization is important in deployment</a:t>
            </a:r>
          </a:p>
          <a:p>
            <a:pPr lvl="1"/>
            <a:r>
              <a:rPr lang="en-US" dirty="0"/>
              <a:t>Hardware changes faster than software</a:t>
            </a:r>
          </a:p>
          <a:p>
            <a:pPr lvl="1"/>
            <a:r>
              <a:rPr lang="en-US" dirty="0"/>
              <a:t>Ease of portability and code migration</a:t>
            </a:r>
          </a:p>
          <a:p>
            <a:pPr lvl="1"/>
            <a:r>
              <a:rPr lang="en-US" dirty="0"/>
              <a:t>Isolation of failing or attacked components</a:t>
            </a:r>
          </a:p>
          <a:p>
            <a:pPr lvl="1"/>
            <a:r>
              <a:rPr lang="en-US" dirty="0"/>
              <a:t>(more on this in Week 9)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0147C9-4E13-E946-B832-15C3997FDF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8156" y="3658156"/>
            <a:ext cx="5427689" cy="2416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38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A74FC-FEC0-FC45-8D24-F07DA02FB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Client-Side Software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456A3-8EC6-CB49-98C7-76BF40562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Generally tailored for distribution transparency</a:t>
            </a:r>
          </a:p>
          <a:p>
            <a:pPr lvl="1"/>
            <a:r>
              <a:rPr lang="en-US" b="1" dirty="0"/>
              <a:t>Access transparency</a:t>
            </a:r>
            <a:r>
              <a:rPr lang="en-US" dirty="0"/>
              <a:t>: client-side stubs for RPCs</a:t>
            </a:r>
          </a:p>
          <a:p>
            <a:pPr lvl="1"/>
            <a:r>
              <a:rPr lang="en-US" b="1" dirty="0"/>
              <a:t>Location/migration transparency</a:t>
            </a:r>
            <a:r>
              <a:rPr lang="en-US" dirty="0"/>
              <a:t>: let client-side software keep track of actual location</a:t>
            </a:r>
          </a:p>
          <a:p>
            <a:pPr lvl="1"/>
            <a:r>
              <a:rPr lang="en-US" b="1" dirty="0"/>
              <a:t>Replication transparency</a:t>
            </a:r>
            <a:r>
              <a:rPr lang="en-US" dirty="0"/>
              <a:t>: multiple invocations handled by client stub</a:t>
            </a:r>
          </a:p>
          <a:p>
            <a:pPr lvl="1"/>
            <a:r>
              <a:rPr lang="en-US" b="1" dirty="0"/>
              <a:t>Failure transparency</a:t>
            </a:r>
            <a:r>
              <a:rPr lang="en-US" dirty="0"/>
              <a:t>: can often be placed only at client (we’re trying to mask server and communication failures)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34E24B-794D-7544-B3A4-49CC4B9F6F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400" y="4419600"/>
            <a:ext cx="5029200" cy="1831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664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0ED58-D0DA-2C44-9C01-F324C76B5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94EED1-62E0-F043-AE4F-7B624DF2696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447800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Basic model</a:t>
            </a:r>
          </a:p>
          <a:p>
            <a:pPr marL="342900" lvl="1" indent="0">
              <a:buNone/>
            </a:pPr>
            <a:r>
              <a:rPr lang="en-US" dirty="0"/>
              <a:t>A process implementing a specific service on behalf of a collection of clients. It waits for an incoming request from a client and subsequently ensures that the request is taken care of, after which it waits for the next incoming request.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EFB501B-1A25-0449-BBC2-601F87939B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447800"/>
            <a:ext cx="3886200" cy="4351338"/>
          </a:xfrm>
        </p:spPr>
        <p:txBody>
          <a:bodyPr>
            <a:normAutofit/>
          </a:bodyPr>
          <a:lstStyle/>
          <a:p>
            <a:r>
              <a:rPr lang="en-US" dirty="0"/>
              <a:t>Request-handling strategies:</a:t>
            </a:r>
          </a:p>
          <a:p>
            <a:pPr lvl="1"/>
            <a:r>
              <a:rPr lang="en-US" dirty="0"/>
              <a:t>Iterative server</a:t>
            </a:r>
          </a:p>
          <a:p>
            <a:pPr lvl="1"/>
            <a:r>
              <a:rPr lang="en-US" dirty="0"/>
              <a:t>Concurrent server (the norm)</a:t>
            </a:r>
          </a:p>
          <a:p>
            <a:r>
              <a:rPr lang="en-US" dirty="0"/>
              <a:t>Contacting a server</a:t>
            </a:r>
          </a:p>
          <a:p>
            <a:pPr lvl="1"/>
            <a:r>
              <a:rPr lang="en-US" dirty="0"/>
              <a:t>Usually with IP: so requires a </a:t>
            </a:r>
            <a:r>
              <a:rPr lang="en-US" b="1" dirty="0"/>
              <a:t>host address</a:t>
            </a:r>
            <a:r>
              <a:rPr lang="en-US" dirty="0"/>
              <a:t> (IPv4 or IPv6)</a:t>
            </a:r>
          </a:p>
          <a:p>
            <a:pPr lvl="1"/>
            <a:r>
              <a:rPr lang="en-US" dirty="0"/>
              <a:t>Usually TCP/IP or UDP/IP: so requires a </a:t>
            </a:r>
            <a:r>
              <a:rPr lang="en-US" b="1" dirty="0"/>
              <a:t>port number</a:t>
            </a:r>
          </a:p>
          <a:p>
            <a:pPr lvl="1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0F95AD0-B141-534E-AF22-A9C189E1D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98" y="4191000"/>
            <a:ext cx="8869405" cy="241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598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7413FE7-4DD4-4149-B112-30EA10DAB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Server Clusters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31C639-5D1D-FF42-8DCB-2C2DEFA88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Transport-layer switching: </a:t>
            </a:r>
          </a:p>
          <a:p>
            <a:pPr lvl="1"/>
            <a:r>
              <a:rPr lang="en-US" dirty="0"/>
              <a:t>Front end simply passes the TCP request to one of the servers, taking some performance metric into account.</a:t>
            </a:r>
          </a:p>
          <a:p>
            <a:r>
              <a:rPr lang="en-US" dirty="0"/>
              <a:t>Content-aware distribution: </a:t>
            </a:r>
          </a:p>
          <a:p>
            <a:pPr lvl="1"/>
            <a:r>
              <a:rPr lang="en-US" dirty="0"/>
              <a:t>Front end reads the content of the request and then selects the best server</a:t>
            </a:r>
          </a:p>
          <a:p>
            <a:r>
              <a:rPr lang="en-US" dirty="0"/>
              <a:t>Combining solutions: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CBEB29-B45D-0D45-BC23-F8FCF1C3E4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225" y="4001293"/>
            <a:ext cx="5543550" cy="2551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780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6C8E7-6268-064C-B870-5A5D956E2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Distributed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6377AA-7C7B-E641-8253-7E3712FE68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where a service is served by multiple nodes distributed around the world</a:t>
            </a:r>
          </a:p>
          <a:p>
            <a:pPr lvl="1"/>
            <a:r>
              <a:rPr lang="en-US" dirty="0"/>
              <a:t>Using DNS, for example:</a:t>
            </a:r>
          </a:p>
          <a:p>
            <a:pPr lvl="2"/>
            <a:r>
              <a:rPr lang="en-US" dirty="0"/>
              <a:t>Client looks up specific service through DNS - client’s IP address is part of request</a:t>
            </a:r>
          </a:p>
          <a:p>
            <a:pPr lvl="2"/>
            <a:r>
              <a:rPr lang="en-US" dirty="0"/>
              <a:t>DNS server keeps track of replica servers for the requested service, and returns address of most local server</a:t>
            </a:r>
          </a:p>
          <a:p>
            <a:pPr lvl="2"/>
            <a:r>
              <a:rPr lang="en-US" dirty="0"/>
              <a:t>Problem is that the resolver may actually be far from local to the actual client</a:t>
            </a:r>
          </a:p>
          <a:p>
            <a:r>
              <a:rPr lang="en-US" dirty="0"/>
              <a:t>Using Mobil IPv6</a:t>
            </a:r>
          </a:p>
          <a:p>
            <a:pPr lvl="1"/>
            <a:r>
              <a:rPr lang="en-US" dirty="0"/>
              <a:t>Client C sets up connection to IPv6 home address HA</a:t>
            </a:r>
          </a:p>
          <a:p>
            <a:pPr lvl="1"/>
            <a:r>
              <a:rPr lang="en-US" dirty="0"/>
              <a:t>HA is maintained by a (network-level) home agent, which hands off the connection to a registered care-of address CA</a:t>
            </a:r>
          </a:p>
          <a:p>
            <a:pPr lvl="1"/>
            <a:r>
              <a:rPr lang="en-US" dirty="0"/>
              <a:t>C can then apply route optimization by directly forwarding packets to address CA (i.e., without the handoff through the home agent).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605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icture containing sky, outdoor, flying&#10;&#10;Description automatically generated">
            <a:extLst>
              <a:ext uri="{FF2B5EF4-FFF2-40B4-BE49-F238E27FC236}">
                <a16:creationId xmlns:a16="http://schemas.microsoft.com/office/drawing/2014/main" id="{8FB86CFC-3F17-3946-B972-9D504FAAB56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8" r="3641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Freeform 5">
            <a:extLst>
              <a:ext uri="{FF2B5EF4-FFF2-40B4-BE49-F238E27FC236}">
                <a16:creationId xmlns:a16="http://schemas.microsoft.com/office/drawing/2014/main" id="{87CC2527-562A-4F69-B487-4371E5B243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4882442" y="2714171"/>
            <a:ext cx="4261558" cy="4150119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solidFill>
            <a:schemeClr val="bg1">
              <a:alpha val="70000"/>
            </a:schemeClr>
          </a:solidFill>
          <a:ln w="50800" cap="sq" cmpd="dbl">
            <a:noFill/>
            <a:miter lim="800000"/>
          </a:ln>
          <a:effectLst/>
        </p:spPr>
        <p:txBody>
          <a:bodyPr vert="horz" lIns="68580" tIns="34290" rIns="68580" bIns="34290" rtlCol="0" anchor="t">
            <a:normAutofit/>
          </a:bodyPr>
          <a:lstStyle/>
          <a:p>
            <a:pPr algn="ctr">
              <a:spcAft>
                <a:spcPts val="750"/>
              </a:spcAft>
              <a:buClr>
                <a:schemeClr val="tx1"/>
              </a:buClr>
              <a:buSzPct val="100000"/>
            </a:pPr>
            <a:endParaRPr lang="en-US" sz="1200" cap="all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6708" y="3734093"/>
            <a:ext cx="3709553" cy="1375542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3000" dirty="0"/>
              <a:t>Communication</a:t>
            </a:r>
            <a:endParaRPr lang="en-US" sz="30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78B717-D053-1545-A0D9-653F8944B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37637" y="5243376"/>
            <a:ext cx="3247697" cy="512463"/>
          </a:xfrm>
        </p:spPr>
        <p:txBody>
          <a:bodyPr vert="horz" lIns="91440" tIns="45720" rIns="91440" bIns="45720" numCol="2" rtlCol="0">
            <a:normAutofit fontScale="70000" lnSpcReduction="20000"/>
          </a:bodyPr>
          <a:lstStyle/>
          <a:p>
            <a:pPr algn="ctr" defTabSz="914400">
              <a:spcBef>
                <a:spcPts val="1000"/>
              </a:spcBef>
            </a:pPr>
            <a:r>
              <a:rPr lang="en-US" sz="175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IPC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RPC/RMI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dirty="0">
                <a:solidFill>
                  <a:schemeClr val="tx1"/>
                </a:solidFill>
              </a:rPr>
              <a:t>Messages</a:t>
            </a:r>
          </a:p>
          <a:p>
            <a:pPr algn="ctr" defTabSz="914400">
              <a:spcBef>
                <a:spcPts val="1000"/>
              </a:spcBef>
            </a:pPr>
            <a:r>
              <a:rPr lang="en-US" sz="1750" dirty="0">
                <a:solidFill>
                  <a:schemeClr val="tx1"/>
                </a:solidFill>
              </a:rPr>
              <a:t>Multicast</a:t>
            </a:r>
            <a:endParaRPr lang="en-US" sz="175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CDAEC91-5BCE-4B55-9CC0-43EF94CB73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10703" y="5154215"/>
            <a:ext cx="701565" cy="0"/>
          </a:xfrm>
          <a:prstGeom prst="line">
            <a:avLst/>
          </a:prstGeom>
          <a:ln w="25400" cap="sq">
            <a:solidFill>
              <a:schemeClr val="tx1">
                <a:lumMod val="85000"/>
                <a:lumOff val="15000"/>
              </a:schemeClr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8154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own Arrow 7">
            <a:extLst>
              <a:ext uri="{FF2B5EF4-FFF2-40B4-BE49-F238E27FC236}">
                <a16:creationId xmlns:a16="http://schemas.microsoft.com/office/drawing/2014/main" id="{73DE2CFE-42F2-48F0-8706-5264E012B1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91352" y="799217"/>
            <a:ext cx="2200313" cy="2506881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9686FB2-9D8C-234A-972C-FB2304864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1204108"/>
            <a:ext cx="2002054" cy="1781175"/>
          </a:xfrm>
        </p:spPr>
        <p:txBody>
          <a:bodyPr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Inter-process Communication (IPC) Protocols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565D2D-D7BF-5242-80A7-6F9B02030E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5213" y="3355130"/>
            <a:ext cx="2696717" cy="3234206"/>
          </a:xfrm>
        </p:spPr>
        <p:txBody>
          <a:bodyPr>
            <a:normAutofit/>
          </a:bodyPr>
          <a:lstStyle/>
          <a:p>
            <a:r>
              <a:rPr lang="en-US" sz="1400" dirty="0"/>
              <a:t>Message-based systems (as opposed to shared-memory systems) send messages for communication across a network</a:t>
            </a:r>
          </a:p>
          <a:p>
            <a:pPr lvl="1"/>
            <a:r>
              <a:rPr lang="en-US" sz="1400" dirty="0"/>
              <a:t>Tightly-coupled systems may use ethernet or bus-based protocols</a:t>
            </a:r>
          </a:p>
          <a:p>
            <a:pPr lvl="2"/>
            <a:r>
              <a:rPr lang="en-US" sz="1400" dirty="0"/>
              <a:t>MPI is a common interface</a:t>
            </a:r>
          </a:p>
          <a:p>
            <a:pPr lvl="1"/>
            <a:r>
              <a:rPr lang="en-US" sz="1400" dirty="0"/>
              <a:t>But most distributed systems use IP</a:t>
            </a:r>
          </a:p>
          <a:p>
            <a:pPr lvl="2"/>
            <a:r>
              <a:rPr lang="en-US" sz="1000" dirty="0"/>
              <a:t>TCP/IP</a:t>
            </a:r>
          </a:p>
          <a:p>
            <a:pPr lvl="2"/>
            <a:r>
              <a:rPr lang="en-US" sz="1000" dirty="0"/>
              <a:t>UDP/IP</a:t>
            </a:r>
            <a:endParaRPr lang="en-US" sz="8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A84302-17D6-3B47-B72C-231ACF0171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6576" y="1600560"/>
            <a:ext cx="5177792" cy="353384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A0350350-E1FF-E04C-9A6A-7D0012A1443F}"/>
              </a:ext>
            </a:extLst>
          </p:cNvPr>
          <p:cNvSpPr/>
          <p:nvPr/>
        </p:nvSpPr>
        <p:spPr>
          <a:xfrm>
            <a:off x="3496577" y="5427645"/>
            <a:ext cx="508181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800" dirty="0"/>
              <a:t>By </a:t>
            </a:r>
            <a:r>
              <a:rPr lang="en-US" sz="800" dirty="0" err="1"/>
              <a:t>en:User:Kbrose</a:t>
            </a:r>
            <a:r>
              <a:rPr lang="en-US" sz="800" dirty="0"/>
              <a:t> - Prior Wikipedia artwork by </a:t>
            </a:r>
            <a:r>
              <a:rPr lang="en-US" sz="800" dirty="0" err="1"/>
              <a:t>en:User:Cburnett</a:t>
            </a:r>
            <a:r>
              <a:rPr lang="en-US" sz="800" dirty="0"/>
              <a:t>, CC BY-SA 3.0, https://</a:t>
            </a:r>
            <a:r>
              <a:rPr lang="en-US" sz="800" dirty="0" err="1"/>
              <a:t>commons.wikimedia.org</a:t>
            </a:r>
            <a:r>
              <a:rPr lang="en-US" sz="800" dirty="0"/>
              <a:t>/w/</a:t>
            </a:r>
            <a:r>
              <a:rPr lang="en-US" sz="800" dirty="0" err="1"/>
              <a:t>index.php?curid</a:t>
            </a:r>
            <a:r>
              <a:rPr lang="en-US" sz="800" dirty="0"/>
              <a:t>=1831900</a:t>
            </a:r>
          </a:p>
        </p:txBody>
      </p:sp>
    </p:spTree>
    <p:extLst>
      <p:ext uri="{BB962C8B-B14F-4D97-AF65-F5344CB8AC3E}">
        <p14:creationId xmlns:p14="http://schemas.microsoft.com/office/powerpoint/2010/main" val="313918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1E887-8784-1E4F-9F5B-DD2241134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r>
              <a:rPr lang="en-US" sz="3850" dirty="0"/>
              <a:t>Internet Protocol Suite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D1E24-9C13-ED4C-8E60-7E1A6CACE5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2321" y="2227943"/>
            <a:ext cx="5033221" cy="3788227"/>
          </a:xfrm>
        </p:spPr>
        <p:txBody>
          <a:bodyPr anchor="ctr">
            <a:normAutofit/>
          </a:bodyPr>
          <a:lstStyle/>
          <a:p>
            <a:r>
              <a:rPr lang="en-US" sz="1600" dirty="0"/>
              <a:t>Link Layer</a:t>
            </a:r>
          </a:p>
          <a:p>
            <a:pPr lvl="1"/>
            <a:r>
              <a:rPr lang="en-US" sz="1600" dirty="0"/>
              <a:t>Ethernet, </a:t>
            </a:r>
            <a:r>
              <a:rPr lang="en-US" sz="1600" dirty="0" err="1"/>
              <a:t>wifi</a:t>
            </a:r>
            <a:r>
              <a:rPr lang="en-US" sz="1600" dirty="0"/>
              <a:t>, etc.</a:t>
            </a:r>
          </a:p>
          <a:p>
            <a:pPr lvl="1"/>
            <a:r>
              <a:rPr lang="en-US" sz="1600" dirty="0"/>
              <a:t>Think physical MAC address on a machine</a:t>
            </a:r>
          </a:p>
          <a:p>
            <a:r>
              <a:rPr lang="en-US" sz="1600" dirty="0"/>
              <a:t>Internet Layer</a:t>
            </a:r>
          </a:p>
          <a:p>
            <a:pPr lvl="1"/>
            <a:r>
              <a:rPr lang="en-US" sz="1600" dirty="0"/>
              <a:t>Corresponds roughly to network layer in OSI stack</a:t>
            </a:r>
          </a:p>
          <a:p>
            <a:pPr lvl="1"/>
            <a:r>
              <a:rPr lang="en-US" sz="1600" dirty="0"/>
              <a:t>Think host-to-host</a:t>
            </a:r>
          </a:p>
          <a:p>
            <a:r>
              <a:rPr lang="en-US" sz="1600" dirty="0"/>
              <a:t>Transport Layer</a:t>
            </a:r>
          </a:p>
          <a:p>
            <a:pPr lvl="1"/>
            <a:r>
              <a:rPr lang="en-US" sz="1600" dirty="0"/>
              <a:t>Mostly TCP and UDP</a:t>
            </a:r>
          </a:p>
          <a:p>
            <a:pPr lvl="1"/>
            <a:r>
              <a:rPr lang="en-US" sz="1600" dirty="0"/>
              <a:t>Think host/port-to-host/port</a:t>
            </a:r>
          </a:p>
          <a:p>
            <a:r>
              <a:rPr lang="en-US" sz="1600" dirty="0"/>
              <a:t>Application Layer</a:t>
            </a:r>
          </a:p>
          <a:p>
            <a:pPr lvl="1"/>
            <a:r>
              <a:rPr lang="en-US" sz="1600" dirty="0"/>
              <a:t>Think program-to-program; how to interpret the bits in the socket </a:t>
            </a:r>
            <a:r>
              <a:rPr lang="en-US" sz="1600" i="1" dirty="0" err="1"/>
              <a:t>recv</a:t>
            </a:r>
            <a:endParaRPr lang="en-US" sz="1600" i="1" dirty="0"/>
          </a:p>
          <a:p>
            <a:pPr lvl="1"/>
            <a:r>
              <a:rPr lang="en-US" sz="1600" dirty="0"/>
              <a:t>Examples: DNS, SSH, HTTP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7" name="Graphic 6" descr="Processor">
            <a:extLst>
              <a:ext uri="{FF2B5EF4-FFF2-40B4-BE49-F238E27FC236}">
                <a16:creationId xmlns:a16="http://schemas.microsoft.com/office/drawing/2014/main" id="{E6EA6CBD-A211-4CD2-88F9-A3731450DC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4244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90A67-FBB8-1645-ABCA-266367D9A1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Internet Layer:</a:t>
            </a:r>
            <a:br>
              <a:rPr lang="en-US" dirty="0"/>
            </a:br>
            <a:r>
              <a:rPr lang="en-US" dirty="0"/>
              <a:t>Internet Protocol (IP)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604B-B031-BD43-9960-379162099C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End-to-end communication based on </a:t>
            </a:r>
            <a:r>
              <a:rPr lang="en-US" b="1" dirty="0"/>
              <a:t>host IP address</a:t>
            </a:r>
          </a:p>
          <a:p>
            <a:r>
              <a:rPr lang="en-US" dirty="0"/>
              <a:t>IPv4</a:t>
            </a:r>
          </a:p>
          <a:p>
            <a:pPr lvl="1"/>
            <a:r>
              <a:rPr lang="en-US" dirty="0"/>
              <a:t>in use by 1983</a:t>
            </a:r>
          </a:p>
          <a:p>
            <a:pPr lvl="1"/>
            <a:r>
              <a:rPr lang="en-US" dirty="0"/>
              <a:t>pseudo-hierarchical 32-bit host address (e.g., </a:t>
            </a:r>
            <a:r>
              <a:rPr lang="en-US" i="1" dirty="0"/>
              <a:t>172.217.3.174</a:t>
            </a:r>
            <a:r>
              <a:rPr lang="en-US" dirty="0"/>
              <a:t>)</a:t>
            </a:r>
          </a:p>
          <a:p>
            <a:r>
              <a:rPr lang="en-US" dirty="0"/>
              <a:t>IPv6 </a:t>
            </a:r>
          </a:p>
          <a:p>
            <a:pPr lvl="1"/>
            <a:r>
              <a:rPr lang="en-US" dirty="0"/>
              <a:t>in use concurrently with IPv4 (first proposed 1998)</a:t>
            </a:r>
          </a:p>
          <a:p>
            <a:pPr lvl="1"/>
            <a:r>
              <a:rPr lang="en-US" dirty="0"/>
              <a:t>pseudo-hierarchical 128-bit host address (e.g.</a:t>
            </a:r>
            <a:r>
              <a:rPr lang="en-US" i="1" dirty="0"/>
              <a:t> 2001:db8::ff00:42:8329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better multicasting</a:t>
            </a:r>
          </a:p>
          <a:p>
            <a:pPr lvl="1"/>
            <a:r>
              <a:rPr lang="en-US" dirty="0"/>
              <a:t>better mobility (MobileIPv6)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0290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F6866-EF49-CB4B-A786-2B016BE58F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Transport Layer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F47AF-2E3A-9C48-8C03-622545C2DF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196445"/>
            <a:ext cx="7886700" cy="3563332"/>
          </a:xfrm>
        </p:spPr>
        <p:txBody>
          <a:bodyPr numCol="2">
            <a:normAutofit/>
          </a:bodyPr>
          <a:lstStyle/>
          <a:p>
            <a:r>
              <a:rPr lang="en-US" dirty="0"/>
              <a:t>Simplest is UDP</a:t>
            </a:r>
          </a:p>
          <a:p>
            <a:pPr lvl="1"/>
            <a:r>
              <a:rPr lang="en-US" dirty="0"/>
              <a:t>datagram – whole message is delivered (or not at all)</a:t>
            </a:r>
          </a:p>
          <a:p>
            <a:pPr lvl="1"/>
            <a:r>
              <a:rPr lang="en-US" dirty="0"/>
              <a:t>connectionless – no handshaking messages</a:t>
            </a:r>
          </a:p>
          <a:p>
            <a:pPr lvl="1"/>
            <a:r>
              <a:rPr lang="en-US" dirty="0"/>
              <a:t>unreliable (best-effort only)</a:t>
            </a:r>
          </a:p>
          <a:p>
            <a:pPr lvl="2"/>
            <a:r>
              <a:rPr lang="en-US" dirty="0"/>
              <a:t>not guaranteed</a:t>
            </a:r>
          </a:p>
          <a:p>
            <a:pPr lvl="2"/>
            <a:r>
              <a:rPr lang="en-US" dirty="0"/>
              <a:t>not ordered</a:t>
            </a:r>
          </a:p>
          <a:p>
            <a:pPr lvl="2"/>
            <a:r>
              <a:rPr lang="en-US" dirty="0"/>
              <a:t>may be delivered zero, one, or more times</a:t>
            </a:r>
          </a:p>
          <a:p>
            <a:pPr lvl="1"/>
            <a:r>
              <a:rPr lang="en-US" dirty="0"/>
              <a:t>has integrity via checksum</a:t>
            </a:r>
          </a:p>
          <a:p>
            <a:pPr lvl="1"/>
            <a:r>
              <a:rPr lang="en-US" dirty="0"/>
              <a:t>used by DNS, DHCP</a:t>
            </a:r>
          </a:p>
          <a:p>
            <a:r>
              <a:rPr lang="en-US" dirty="0"/>
              <a:t>Most common is TCP</a:t>
            </a:r>
          </a:p>
          <a:p>
            <a:pPr lvl="1"/>
            <a:r>
              <a:rPr lang="en-US" dirty="0"/>
              <a:t>stream based – no delineation between messages</a:t>
            </a:r>
          </a:p>
          <a:p>
            <a:pPr lvl="1"/>
            <a:r>
              <a:rPr lang="en-US" dirty="0"/>
              <a:t>connection is established (three packet overhead)</a:t>
            </a:r>
          </a:p>
          <a:p>
            <a:pPr lvl="1"/>
            <a:r>
              <a:rPr lang="en-US" dirty="0"/>
              <a:t>reliable</a:t>
            </a:r>
          </a:p>
          <a:p>
            <a:pPr lvl="2"/>
            <a:r>
              <a:rPr lang="en-US" dirty="0"/>
              <a:t>some guarantees</a:t>
            </a:r>
          </a:p>
          <a:p>
            <a:pPr lvl="2"/>
            <a:r>
              <a:rPr lang="en-US" dirty="0"/>
              <a:t>ordered</a:t>
            </a:r>
          </a:p>
          <a:p>
            <a:pPr lvl="2"/>
            <a:r>
              <a:rPr lang="en-US" dirty="0"/>
              <a:t>delivered once (but may be severely delayed to fulfill guarantees and handle congestion)</a:t>
            </a:r>
          </a:p>
          <a:p>
            <a:pPr lvl="1"/>
            <a:r>
              <a:rPr lang="en-US" dirty="0"/>
              <a:t>used by SSH, HTTP (newest HTTP uses UDP), HTTPS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ADE973-2349-5C47-9ED5-22AA76ED402A}"/>
              </a:ext>
            </a:extLst>
          </p:cNvPr>
          <p:cNvSpPr/>
          <p:nvPr/>
        </p:nvSpPr>
        <p:spPr>
          <a:xfrm>
            <a:off x="628650" y="1748375"/>
            <a:ext cx="6846806" cy="3831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</a:pPr>
            <a:r>
              <a:rPr lang="en-US" sz="2100" dirty="0"/>
              <a:t>Transport layer adds a port number to the internet address</a:t>
            </a:r>
          </a:p>
        </p:txBody>
      </p:sp>
    </p:spTree>
    <p:extLst>
      <p:ext uri="{BB962C8B-B14F-4D97-AF65-F5344CB8AC3E}">
        <p14:creationId xmlns:p14="http://schemas.microsoft.com/office/powerpoint/2010/main" val="1566026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1984, </a:t>
            </a:r>
            <a:r>
              <a:rPr lang="en-US" dirty="0" err="1"/>
              <a:t>Birrell</a:t>
            </a:r>
            <a:r>
              <a:rPr lang="en-US" dirty="0"/>
              <a:t> &amp; Nelson</a:t>
            </a:r>
          </a:p>
          <a:p>
            <a:pPr lvl="1"/>
            <a:r>
              <a:rPr lang="en-US" dirty="0"/>
              <a:t>Mechanism to call procedures on other machines</a:t>
            </a:r>
          </a:p>
          <a:p>
            <a:r>
              <a:rPr lang="en-US" dirty="0"/>
              <a:t>Goal:</a:t>
            </a:r>
          </a:p>
          <a:p>
            <a:pPr lvl="1"/>
            <a:r>
              <a:rPr lang="en-US" dirty="0"/>
              <a:t>It should appear to the programmer that a conventional (local) call is taking place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257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Implementing RPC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trick:</a:t>
            </a:r>
          </a:p>
          <a:p>
            <a:pPr lvl="1"/>
            <a:r>
              <a:rPr lang="en-US" dirty="0"/>
              <a:t>Create stub functions to make it appear to the user that the call is local</a:t>
            </a:r>
          </a:p>
          <a:p>
            <a:pPr lvl="1"/>
            <a:endParaRPr lang="en-US" dirty="0"/>
          </a:p>
          <a:p>
            <a:r>
              <a:rPr lang="en-US" dirty="0"/>
              <a:t>On the client</a:t>
            </a:r>
          </a:p>
          <a:p>
            <a:pPr lvl="1"/>
            <a:r>
              <a:rPr lang="en-US" dirty="0"/>
              <a:t>The stub function has the function’s interface</a:t>
            </a:r>
          </a:p>
          <a:p>
            <a:pPr lvl="1"/>
            <a:r>
              <a:rPr lang="en-US" dirty="0"/>
              <a:t>Packages parameters and calls the server</a:t>
            </a:r>
          </a:p>
          <a:p>
            <a:endParaRPr lang="en-US" dirty="0"/>
          </a:p>
          <a:p>
            <a:r>
              <a:rPr lang="en-US" dirty="0"/>
              <a:t>On the server</a:t>
            </a:r>
          </a:p>
          <a:p>
            <a:pPr lvl="1"/>
            <a:r>
              <a:rPr lang="en-US" dirty="0"/>
              <a:t>The stub function (skeleton) receives the request and calls the local function</a:t>
            </a:r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8073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52600"/>
            <a:ext cx="7772400" cy="4145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447800" y="1253410"/>
            <a:ext cx="5462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1. Client calls stub (</a:t>
            </a:r>
            <a:r>
              <a:rPr lang="en-US" sz="2800" dirty="0" err="1">
                <a:solidFill>
                  <a:srgbClr val="C00000"/>
                </a:solidFill>
              </a:rPr>
              <a:t>params</a:t>
            </a:r>
            <a:r>
              <a:rPr lang="en-US" sz="2800" dirty="0">
                <a:solidFill>
                  <a:srgbClr val="C00000"/>
                </a:solidFill>
              </a:rPr>
              <a:t> on stack)</a:t>
            </a:r>
          </a:p>
        </p:txBody>
      </p:sp>
    </p:spTree>
    <p:extLst>
      <p:ext uri="{BB962C8B-B14F-4D97-AF65-F5344CB8AC3E}">
        <p14:creationId xmlns:p14="http://schemas.microsoft.com/office/powerpoint/2010/main" val="42761661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716157"/>
            <a:ext cx="7692121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800" y="1253410"/>
            <a:ext cx="6045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2. Stub marshals </a:t>
            </a:r>
            <a:r>
              <a:rPr lang="en-US" sz="2800" dirty="0" err="1">
                <a:solidFill>
                  <a:srgbClr val="C00000"/>
                </a:solidFill>
              </a:rPr>
              <a:t>params</a:t>
            </a:r>
            <a:r>
              <a:rPr lang="en-US" sz="2800" dirty="0">
                <a:solidFill>
                  <a:srgbClr val="C00000"/>
                </a:solidFill>
              </a:rPr>
              <a:t> to net message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" y="5953539"/>
            <a:ext cx="8839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Marshalling = put parameters in  a form suitable for transmission over a network (serialized)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9351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133600"/>
            <a:ext cx="7658100" cy="4177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800" y="1253410"/>
            <a:ext cx="65281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3. Network message sent over to the server</a:t>
            </a:r>
          </a:p>
        </p:txBody>
      </p:sp>
    </p:spTree>
    <p:extLst>
      <p:ext uri="{BB962C8B-B14F-4D97-AF65-F5344CB8AC3E}">
        <p14:creationId xmlns:p14="http://schemas.microsoft.com/office/powerpoint/2010/main" val="27782954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52" y="1981200"/>
            <a:ext cx="7572375" cy="41231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4. Receive message: send it to server stub</a:t>
            </a:r>
          </a:p>
        </p:txBody>
      </p:sp>
    </p:spTree>
    <p:extLst>
      <p:ext uri="{BB962C8B-B14F-4D97-AF65-F5344CB8AC3E}">
        <p14:creationId xmlns:p14="http://schemas.microsoft.com/office/powerpoint/2010/main" val="18315441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828800"/>
            <a:ext cx="7910512" cy="434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5. </a:t>
            </a:r>
            <a:r>
              <a:rPr lang="en-US" sz="2800" dirty="0" err="1">
                <a:solidFill>
                  <a:srgbClr val="C00000"/>
                </a:solidFill>
              </a:rPr>
              <a:t>Unmarshals</a:t>
            </a:r>
            <a:r>
              <a:rPr lang="en-US" sz="2800" dirty="0">
                <a:solidFill>
                  <a:srgbClr val="C00000"/>
                </a:solidFill>
              </a:rPr>
              <a:t> parameters, call server function</a:t>
            </a:r>
          </a:p>
        </p:txBody>
      </p:sp>
    </p:spTree>
    <p:extLst>
      <p:ext uri="{BB962C8B-B14F-4D97-AF65-F5344CB8AC3E}">
        <p14:creationId xmlns:p14="http://schemas.microsoft.com/office/powerpoint/2010/main" val="12443887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905000"/>
            <a:ext cx="8049562" cy="4281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6. Return from server function</a:t>
            </a:r>
          </a:p>
        </p:txBody>
      </p:sp>
    </p:spTree>
    <p:extLst>
      <p:ext uri="{BB962C8B-B14F-4D97-AF65-F5344CB8AC3E}">
        <p14:creationId xmlns:p14="http://schemas.microsoft.com/office/powerpoint/2010/main" val="2472918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057400"/>
            <a:ext cx="7748587" cy="41532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7. Marshal return value and send message</a:t>
            </a:r>
          </a:p>
        </p:txBody>
      </p:sp>
    </p:spTree>
    <p:extLst>
      <p:ext uri="{BB962C8B-B14F-4D97-AF65-F5344CB8AC3E}">
        <p14:creationId xmlns:p14="http://schemas.microsoft.com/office/powerpoint/2010/main" val="2032243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981201"/>
            <a:ext cx="7660968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8. Transfer message over the network</a:t>
            </a:r>
          </a:p>
        </p:txBody>
      </p:sp>
    </p:spTree>
    <p:extLst>
      <p:ext uri="{BB962C8B-B14F-4D97-AF65-F5344CB8AC3E}">
        <p14:creationId xmlns:p14="http://schemas.microsoft.com/office/powerpoint/2010/main" val="11275306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057400"/>
            <a:ext cx="7803173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447799" y="1253410"/>
            <a:ext cx="68998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9. Client stub receives message</a:t>
            </a:r>
          </a:p>
        </p:txBody>
      </p:sp>
    </p:spTree>
    <p:extLst>
      <p:ext uri="{BB962C8B-B14F-4D97-AF65-F5344CB8AC3E}">
        <p14:creationId xmlns:p14="http://schemas.microsoft.com/office/powerpoint/2010/main" val="37637107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598" y="2209800"/>
            <a:ext cx="7767802" cy="419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143000" y="1381780"/>
            <a:ext cx="762000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C00000"/>
                </a:solidFill>
              </a:rPr>
              <a:t>10. </a:t>
            </a:r>
            <a:r>
              <a:rPr lang="en-US" sz="2800" dirty="0" err="1">
                <a:solidFill>
                  <a:srgbClr val="C00000"/>
                </a:solidFill>
              </a:rPr>
              <a:t>Unmarshal</a:t>
            </a:r>
            <a:r>
              <a:rPr lang="en-US" sz="2800" dirty="0">
                <a:solidFill>
                  <a:srgbClr val="C00000"/>
                </a:solidFill>
              </a:rPr>
              <a:t> return value(s), return to client code</a:t>
            </a:r>
          </a:p>
        </p:txBody>
      </p:sp>
    </p:spTree>
    <p:extLst>
      <p:ext uri="{BB962C8B-B14F-4D97-AF65-F5344CB8AC3E}">
        <p14:creationId xmlns:p14="http://schemas.microsoft.com/office/powerpoint/2010/main" val="3769696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0">
            <a:extLst>
              <a:ext uri="{FF2B5EF4-FFF2-40B4-BE49-F238E27FC236}">
                <a16:creationId xmlns:a16="http://schemas.microsoft.com/office/drawing/2014/main" id="{823AC064-BC96-4F32-8AE1-B2FD387548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83551" y="343486"/>
            <a:ext cx="8579094" cy="1844256"/>
          </a:xfrm>
          <a:prstGeom prst="rect">
            <a:avLst/>
          </a:prstGeom>
          <a:solidFill>
            <a:srgbClr val="404040"/>
          </a:solidFill>
          <a:ln w="127000" cap="sq" cmpd="thinThick"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4554" y="466578"/>
            <a:ext cx="8354891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 defTabSz="914400"/>
            <a:r>
              <a:rPr lang="en-US" sz="47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RPC Overview</a:t>
            </a:r>
          </a:p>
        </p:txBody>
      </p: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7E7C77BC-7138-40B1-A15B-20F57A4946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657350" y="1448631"/>
            <a:ext cx="5829300" cy="0"/>
          </a:xfrm>
          <a:prstGeom prst="line">
            <a:avLst/>
          </a:prstGeom>
          <a:ln w="22225"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 bwMode="auto">
          <a:xfrm>
            <a:off x="1059951" y="2509911"/>
            <a:ext cx="6982772" cy="3997637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17375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RPC API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>
            <a:normAutofit/>
          </a:bodyPr>
          <a:lstStyle/>
          <a:p>
            <a:r>
              <a:rPr lang="en-US" dirty="0"/>
              <a:t>Interface Definition Language (IDL)</a:t>
            </a:r>
          </a:p>
          <a:p>
            <a:r>
              <a:rPr lang="en-US" dirty="0"/>
              <a:t>Name service operations</a:t>
            </a:r>
          </a:p>
          <a:p>
            <a:pPr lvl="1"/>
            <a:r>
              <a:rPr lang="en-US" dirty="0"/>
              <a:t>Export/lookup binding info. (ports, machines)</a:t>
            </a:r>
          </a:p>
          <a:p>
            <a:pPr lvl="1"/>
            <a:r>
              <a:rPr lang="en-US" dirty="0"/>
              <a:t>Support dynamic ports</a:t>
            </a:r>
          </a:p>
          <a:p>
            <a:r>
              <a:rPr lang="en-US" dirty="0"/>
              <a:t>Binding operations</a:t>
            </a:r>
          </a:p>
          <a:p>
            <a:pPr lvl="1"/>
            <a:r>
              <a:rPr lang="en-US" dirty="0"/>
              <a:t>Establishing c/s communication using appropriate protocol (establish endpoints)</a:t>
            </a:r>
          </a:p>
          <a:p>
            <a:r>
              <a:rPr lang="en-US" dirty="0"/>
              <a:t>Endpoint operations</a:t>
            </a:r>
          </a:p>
          <a:p>
            <a:pPr lvl="1"/>
            <a:r>
              <a:rPr lang="en-US" dirty="0"/>
              <a:t>Listen for requests, export endpoint to name server</a:t>
            </a:r>
          </a:p>
          <a:p>
            <a:r>
              <a:rPr lang="en-US" dirty="0"/>
              <a:t>Security operations</a:t>
            </a:r>
          </a:p>
          <a:p>
            <a:pPr lvl="1"/>
            <a:r>
              <a:rPr lang="en-US" dirty="0"/>
              <a:t>Authenticate client/server</a:t>
            </a:r>
          </a:p>
          <a:p>
            <a:r>
              <a:rPr lang="en-US" dirty="0"/>
              <a:t>Marshaling/Data conversion operations</a:t>
            </a:r>
          </a:p>
          <a:p>
            <a:pPr lvl="1"/>
            <a:r>
              <a:rPr lang="en-US" dirty="0"/>
              <a:t>Binary formats</a:t>
            </a:r>
          </a:p>
          <a:p>
            <a:pPr lvl="1"/>
            <a:r>
              <a:rPr lang="en-US" dirty="0"/>
              <a:t>XML or JSON</a:t>
            </a:r>
          </a:p>
          <a:p>
            <a:pPr lvl="1"/>
            <a:r>
              <a:rPr lang="en-US" dirty="0"/>
              <a:t>Pass by reference</a:t>
            </a:r>
          </a:p>
          <a:p>
            <a:r>
              <a:rPr lang="en-US" dirty="0"/>
              <a:t>Stub memory management</a:t>
            </a:r>
          </a:p>
          <a:p>
            <a:pPr lvl="1"/>
            <a:r>
              <a:rPr lang="en-US" dirty="0"/>
              <a:t>Dealing with “reference” data, temporary buffers</a:t>
            </a:r>
          </a:p>
          <a:p>
            <a:r>
              <a:rPr lang="en-US" dirty="0"/>
              <a:t>Versioning</a:t>
            </a:r>
          </a:p>
          <a:p>
            <a:pPr lvl="1"/>
            <a:r>
              <a:rPr lang="en-US" dirty="0"/>
              <a:t>Allow applications to access IDs of RPC interfaces, etc.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5562E23-35ED-8A49-BB9A-5315B9AD74BC}"/>
              </a:ext>
            </a:extLst>
          </p:cNvPr>
          <p:cNvSpPr/>
          <p:nvPr/>
        </p:nvSpPr>
        <p:spPr>
          <a:xfrm>
            <a:off x="628650" y="1390160"/>
            <a:ext cx="74124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What kind of services does a RPC system need?</a:t>
            </a:r>
          </a:p>
        </p:txBody>
      </p:sp>
    </p:spTree>
    <p:extLst>
      <p:ext uri="{BB962C8B-B14F-4D97-AF65-F5344CB8AC3E}">
        <p14:creationId xmlns:p14="http://schemas.microsoft.com/office/powerpoint/2010/main" val="345524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9971" y="1783959"/>
            <a:ext cx="3483937" cy="288911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defTabSz="914400"/>
            <a:r>
              <a:rPr lang="en-US" sz="6000" dirty="0"/>
              <a:t>Sending data over the network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B7C82F-AB7E-4F0C-B829-FA1B9C4151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629586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A picture containing table&#10;&#10;Description automatically generated">
            <a:extLst>
              <a:ext uri="{FF2B5EF4-FFF2-40B4-BE49-F238E27FC236}">
                <a16:creationId xmlns:a16="http://schemas.microsoft.com/office/drawing/2014/main" id="{2DE6B485-AE9A-2741-BC07-028863FDCBE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28" r="18092" b="2"/>
          <a:stretch/>
        </p:blipFill>
        <p:spPr>
          <a:xfrm>
            <a:off x="20" y="10"/>
            <a:ext cx="4518095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8652148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stream of bytes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1752600"/>
            <a:ext cx="6740891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0206898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 local system: no </a:t>
            </a:r>
            <a:r>
              <a:rPr lang="en-US" i="1" dirty="0">
                <a:solidFill>
                  <a:srgbClr val="C00000"/>
                </a:solidFill>
              </a:rPr>
              <a:t>incompatibility</a:t>
            </a:r>
            <a:r>
              <a:rPr lang="en-US" dirty="0"/>
              <a:t> problems</a:t>
            </a:r>
          </a:p>
          <a:p>
            <a:endParaRPr lang="en-US" dirty="0"/>
          </a:p>
          <a:p>
            <a:r>
              <a:rPr lang="en-US" dirty="0"/>
              <a:t>Remote machine may have</a:t>
            </a:r>
          </a:p>
          <a:p>
            <a:pPr lvl="1"/>
            <a:r>
              <a:rPr lang="en-US" dirty="0"/>
              <a:t>Different byte ordering</a:t>
            </a:r>
          </a:p>
          <a:p>
            <a:pPr lvl="1"/>
            <a:r>
              <a:rPr lang="en-US" dirty="0"/>
              <a:t>Different sizes of integers and other types</a:t>
            </a:r>
          </a:p>
          <a:p>
            <a:pPr lvl="1"/>
            <a:r>
              <a:rPr lang="en-US" dirty="0"/>
              <a:t>Different float point representations</a:t>
            </a:r>
          </a:p>
          <a:p>
            <a:pPr lvl="1"/>
            <a:r>
              <a:rPr lang="en-US" dirty="0"/>
              <a:t>Different character sets</a:t>
            </a:r>
          </a:p>
          <a:p>
            <a:pPr lvl="1"/>
            <a:r>
              <a:rPr lang="en-US" dirty="0"/>
              <a:t>Alignment requirement</a:t>
            </a:r>
          </a:p>
        </p:txBody>
      </p:sp>
    </p:spTree>
    <p:extLst>
      <p:ext uri="{BB962C8B-B14F-4D97-AF65-F5344CB8AC3E}">
        <p14:creationId xmlns:p14="http://schemas.microsoft.com/office/powerpoint/2010/main" val="2426912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IP (headers) forced all to use big endian byte order for 16- and 32-bit values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Big endian</a:t>
            </a:r>
            <a:r>
              <a:rPr lang="en-US" sz="2000" dirty="0"/>
              <a:t>: Most significant byte in low memory</a:t>
            </a:r>
          </a:p>
          <a:p>
            <a:pPr marL="0" indent="0">
              <a:buNone/>
            </a:pPr>
            <a:r>
              <a:rPr lang="en-US" sz="2000" dirty="0"/>
              <a:t>	─ SPARC &lt; V9, Motorola 680x0, older PowerPC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Little endian</a:t>
            </a:r>
            <a:r>
              <a:rPr lang="en-US" sz="2000" dirty="0"/>
              <a:t>: Most significant byte in high memory</a:t>
            </a:r>
          </a:p>
          <a:p>
            <a:pPr marL="0" indent="0">
              <a:buNone/>
            </a:pPr>
            <a:r>
              <a:rPr lang="en-US" sz="2000" dirty="0"/>
              <a:t>	 ─ Intel/AMD IA-32, x64</a:t>
            </a:r>
          </a:p>
          <a:p>
            <a:pPr marL="0" indent="0">
              <a:buNone/>
            </a:pPr>
            <a:r>
              <a:rPr lang="en-US" sz="2000" dirty="0">
                <a:solidFill>
                  <a:srgbClr val="C00000"/>
                </a:solidFill>
              </a:rPr>
              <a:t>Bi-endian</a:t>
            </a:r>
            <a:r>
              <a:rPr lang="en-US" sz="2000" dirty="0"/>
              <a:t>: Processor may operate in either mode</a:t>
            </a:r>
          </a:p>
          <a:p>
            <a:pPr marL="0" indent="0">
              <a:buNone/>
            </a:pPr>
            <a:r>
              <a:rPr lang="en-US" sz="2000" dirty="0"/>
              <a:t>	 ─ ARM, PowerPC, MIPS, SPARC V9, IA-64(Intel Itanium)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4343400"/>
            <a:ext cx="7494933" cy="22350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3693044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Representing Data: Serialization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Need standard encoding to enable communication between heterogeneous systems</a:t>
            </a:r>
          </a:p>
          <a:p>
            <a:r>
              <a:rPr lang="en-US" dirty="0"/>
              <a:t>Serialization</a:t>
            </a:r>
          </a:p>
          <a:p>
            <a:pPr lvl="1"/>
            <a:r>
              <a:rPr lang="en-US" dirty="0"/>
              <a:t>Convert data into a </a:t>
            </a:r>
            <a:r>
              <a:rPr lang="en-US" dirty="0" err="1"/>
              <a:t>pointerless</a:t>
            </a:r>
            <a:r>
              <a:rPr lang="en-US" dirty="0"/>
              <a:t> format: an array of bytes</a:t>
            </a:r>
          </a:p>
          <a:p>
            <a:r>
              <a:rPr lang="en-US" dirty="0"/>
              <a:t>Examples</a:t>
            </a:r>
          </a:p>
          <a:p>
            <a:pPr lvl="1"/>
            <a:r>
              <a:rPr lang="en-US" dirty="0"/>
              <a:t>XDR (</a:t>
            </a:r>
            <a:r>
              <a:rPr lang="en-US" dirty="0" err="1"/>
              <a:t>eXternal</a:t>
            </a:r>
            <a:r>
              <a:rPr lang="en-US" dirty="0"/>
              <a:t> Data Representation), used by ONC RPC</a:t>
            </a:r>
          </a:p>
          <a:p>
            <a:pPr lvl="1"/>
            <a:r>
              <a:rPr lang="en-US" dirty="0"/>
              <a:t>JSON (JavaScript Object Notation)</a:t>
            </a:r>
          </a:p>
          <a:p>
            <a:pPr lvl="1"/>
            <a:r>
              <a:rPr lang="en-US" dirty="0"/>
              <a:t>W3C XML Schema Language</a:t>
            </a:r>
          </a:p>
          <a:p>
            <a:pPr lvl="1"/>
            <a:r>
              <a:rPr lang="en-US" dirty="0"/>
              <a:t>ASN.1 (ISO Abstract Syntax Notation)</a:t>
            </a:r>
          </a:p>
          <a:p>
            <a:pPr lvl="1"/>
            <a:r>
              <a:rPr lang="en-US" dirty="0"/>
              <a:t>Google Protocol Buffers</a:t>
            </a:r>
          </a:p>
          <a:p>
            <a:pPr lvl="1"/>
            <a:r>
              <a:rPr lang="en-US" dirty="0"/>
              <a:t>Python pickling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503816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Serializing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2743199"/>
          </a:xfrm>
        </p:spPr>
        <p:txBody>
          <a:bodyPr>
            <a:normAutofit/>
          </a:bodyPr>
          <a:lstStyle/>
          <a:p>
            <a:r>
              <a:rPr lang="en-US" dirty="0"/>
              <a:t>Implicit typing</a:t>
            </a:r>
          </a:p>
          <a:p>
            <a:pPr lvl="1"/>
            <a:r>
              <a:rPr lang="en-US" dirty="0"/>
              <a:t>Only values are transmitted, no data types or parameter info</a:t>
            </a:r>
          </a:p>
          <a:p>
            <a:pPr lvl="1"/>
            <a:r>
              <a:rPr lang="en-US" dirty="0"/>
              <a:t>E.g., ONC XDR (RFC 4506)</a:t>
            </a:r>
          </a:p>
          <a:p>
            <a:r>
              <a:rPr lang="en-US" dirty="0"/>
              <a:t>Explicit typing</a:t>
            </a:r>
          </a:p>
          <a:p>
            <a:pPr lvl="1"/>
            <a:r>
              <a:rPr lang="en-US" dirty="0"/>
              <a:t>Type is transmitted with each value</a:t>
            </a:r>
          </a:p>
          <a:p>
            <a:pPr lvl="1"/>
            <a:r>
              <a:rPr lang="en-US" dirty="0"/>
              <a:t>E.g., ISO’s ASN.1, XML, protocol buffers, JSON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572000"/>
            <a:ext cx="8305800" cy="202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2001472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EAE80-B3FA-104C-BE2A-AF9701830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BD15C8-EA1B-8945-84D0-C317163E7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Remote Method Invocation </a:t>
            </a:r>
          </a:p>
          <a:p>
            <a:pPr lvl="1"/>
            <a:r>
              <a:rPr lang="en-US" dirty="0"/>
              <a:t>Like RPC but with reference to a remote or distributed object</a:t>
            </a:r>
          </a:p>
          <a:p>
            <a:r>
              <a:rPr lang="en-US" dirty="0"/>
              <a:t>Common Mechanisms:</a:t>
            </a:r>
          </a:p>
          <a:p>
            <a:pPr lvl="1"/>
            <a:r>
              <a:rPr lang="en-US" dirty="0" err="1"/>
              <a:t>Corba</a:t>
            </a:r>
            <a:endParaRPr lang="en-US" dirty="0"/>
          </a:p>
          <a:p>
            <a:pPr lvl="1"/>
            <a:r>
              <a:rPr lang="en-US" dirty="0"/>
              <a:t>DCOM</a:t>
            </a:r>
          </a:p>
          <a:p>
            <a:pPr lvl="1"/>
            <a:r>
              <a:rPr lang="en-US" dirty="0"/>
              <a:t>SOAP</a:t>
            </a:r>
          </a:p>
          <a:p>
            <a:r>
              <a:rPr lang="en-US" dirty="0"/>
              <a:t>Example: Simple Object Access Protocol (SOAP)</a:t>
            </a:r>
          </a:p>
          <a:p>
            <a:pPr lvl="1"/>
            <a:r>
              <a:rPr lang="en-US" dirty="0"/>
              <a:t>1999</a:t>
            </a:r>
          </a:p>
          <a:p>
            <a:pPr lvl="1"/>
            <a:r>
              <a:rPr lang="en-US" dirty="0"/>
              <a:t>Call and return over HTTP or HTTPS</a:t>
            </a:r>
          </a:p>
          <a:p>
            <a:pPr lvl="2"/>
            <a:r>
              <a:rPr lang="en-US" dirty="0"/>
              <a:t>can also use SMTP</a:t>
            </a:r>
          </a:p>
          <a:p>
            <a:pPr lvl="2"/>
            <a:r>
              <a:rPr lang="en-US" dirty="0"/>
              <a:t>endpoints are managed via internet URI’s</a:t>
            </a:r>
          </a:p>
          <a:p>
            <a:pPr lvl="1"/>
            <a:r>
              <a:rPr lang="en-US" dirty="0"/>
              <a:t>Marshalling is via XML</a:t>
            </a:r>
          </a:p>
          <a:p>
            <a:pPr lvl="1"/>
            <a:r>
              <a:rPr lang="en-US" dirty="0"/>
              <a:t>IDL is also XML</a:t>
            </a:r>
          </a:p>
          <a:p>
            <a:pPr lvl="2"/>
            <a:r>
              <a:rPr lang="en-US" dirty="0" err="1"/>
              <a:t>wsdl</a:t>
            </a:r>
            <a:r>
              <a:rPr lang="en-US" dirty="0"/>
              <a:t> file at a separate URI</a:t>
            </a:r>
          </a:p>
        </p:txBody>
      </p:sp>
    </p:spTree>
    <p:extLst>
      <p:ext uri="{BB962C8B-B14F-4D97-AF65-F5344CB8AC3E}">
        <p14:creationId xmlns:p14="http://schemas.microsoft.com/office/powerpoint/2010/main" val="2520606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C00000"/>
            </a:gs>
            <a:gs pos="100000">
              <a:schemeClr val="bg2">
                <a:shade val="80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object, chessman, indoor, mirror&#10;&#10;Description automatically generated">
            <a:extLst>
              <a:ext uri="{FF2B5EF4-FFF2-40B4-BE49-F238E27FC236}">
                <a16:creationId xmlns:a16="http://schemas.microsoft.com/office/drawing/2014/main" id="{AB7C6A24-DD42-4C87-876E-3C0A7A1DF5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1334"/>
          <a:stretch/>
        </p:blipFill>
        <p:spPr>
          <a:xfrm>
            <a:off x="838200" y="0"/>
            <a:ext cx="8305800" cy="62293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2906" y="5317240"/>
            <a:ext cx="8408194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/>
            <a:r>
              <a:rPr lang="en-US" sz="31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The End of Communication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2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5466</TotalTime>
  <Words>1406</Words>
  <Application>Microsoft Macintosh PowerPoint</Application>
  <PresentationFormat>On-screen Show (4:3)</PresentationFormat>
  <Paragraphs>229</Paragraphs>
  <Slides>35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Calibri Light</vt:lpstr>
      <vt:lpstr>Office Theme</vt:lpstr>
      <vt:lpstr>Communication</vt:lpstr>
      <vt:lpstr>Processes</vt:lpstr>
      <vt:lpstr>Threads</vt:lpstr>
      <vt:lpstr>Virtualization</vt:lpstr>
      <vt:lpstr>Client-Side Software</vt:lpstr>
      <vt:lpstr>Servers</vt:lpstr>
      <vt:lpstr>Server Clusters</vt:lpstr>
      <vt:lpstr>Distributed Servers</vt:lpstr>
      <vt:lpstr>Communication</vt:lpstr>
      <vt:lpstr>Inter-process Communication (IPC) Protocols</vt:lpstr>
      <vt:lpstr>Internet Protocol Suite</vt:lpstr>
      <vt:lpstr>Internet Layer: Internet Protocol (IP)</vt:lpstr>
      <vt:lpstr>Transport Layer</vt:lpstr>
      <vt:lpstr>RPC</vt:lpstr>
      <vt:lpstr>Implementing RPC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RPC Overview</vt:lpstr>
      <vt:lpstr>RPC API</vt:lpstr>
      <vt:lpstr>Sending data over the network</vt:lpstr>
      <vt:lpstr>We need a stream of bytes</vt:lpstr>
      <vt:lpstr>Representing Data</vt:lpstr>
      <vt:lpstr>Representing Data</vt:lpstr>
      <vt:lpstr>Representing Data: Serialization</vt:lpstr>
      <vt:lpstr>Serializing Data</vt:lpstr>
      <vt:lpstr>RMI</vt:lpstr>
      <vt:lpstr>The End of Communication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Distributed Systems</dc:title>
  <dc:creator>Kevin Lundeen</dc:creator>
  <cp:lastModifiedBy>Kevin Lundeen</cp:lastModifiedBy>
  <cp:revision>8</cp:revision>
  <dcterms:created xsi:type="dcterms:W3CDTF">2019-10-08T19:45:44Z</dcterms:created>
  <dcterms:modified xsi:type="dcterms:W3CDTF">2024-10-10T22:26:47Z</dcterms:modified>
</cp:coreProperties>
</file>